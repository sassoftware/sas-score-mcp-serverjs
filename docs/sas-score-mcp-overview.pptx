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32954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766D1"/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1463040"/>
            <a:ext cx="8412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 Score MCP Server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11480" y="219456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4398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Architecture Overview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411480" y="2971800"/>
            <a:ext cx="8412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AC0C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 · Verify · Score — five skills, one router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32954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4572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Are Skills?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68580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are structured decision-tree documents (SKILL.md) that guide an AI agent through a scoring workflow — which tool to call, in what order, and how to handle errors.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4630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032954"/>
          </a:solidFill>
          <a:ln w="6350">
            <a:solidFill>
              <a:srgbClr val="4398F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75488" y="1554480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75488" y="1865376"/>
            <a:ext cx="243230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score-strategy reads the request and delegates to exactly one specialist skill.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75488" y="1554480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75488" y="1865376"/>
            <a:ext cx="24323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4DE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score-strategy reads the request and delegates to exactly one specialist skill.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0" y="14630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C4DEFD"/>
          </a:solidFill>
          <a:ln w="6350">
            <a:solidFill>
              <a:srgbClr val="4398F9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10128" y="1554480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Specialist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3310128" y="1865376"/>
            <a:ext cx="243230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specialist skill knows the verify → score pattern for its model type.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6035040" y="1463040"/>
            <a:ext cx="2651760" cy="1371600"/>
          </a:xfrm>
          <a:prstGeom prst="roundRect">
            <a:avLst>
              <a:gd name="adj" fmla="val 5333"/>
            </a:avLst>
          </a:prstGeom>
          <a:solidFill>
            <a:srgbClr val="C4DEFD"/>
          </a:solidFill>
          <a:ln w="6350">
            <a:solidFill>
              <a:srgbClr val="4398F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44768" y="1554480"/>
            <a:ext cx="24323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6144768" y="1865376"/>
            <a:ext cx="243230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tools are the leaf operations — network calls to SAS Viya.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017520" y="1828800"/>
            <a:ext cx="457200" cy="548640"/>
          </a:xfrm>
          <a:prstGeom prst="rightArrow">
            <a:avLst/>
          </a:prstGeom>
          <a:solidFill>
            <a:srgbClr val="0766D1"/>
          </a:solidFill>
          <a:ln w="12700">
            <a:solidFill>
              <a:srgbClr val="0766D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852160" y="1828800"/>
            <a:ext cx="457200" cy="548640"/>
          </a:xfrm>
          <a:prstGeom prst="rightArrow">
            <a:avLst/>
          </a:prstGeom>
          <a:solidFill>
            <a:srgbClr val="0766D1"/>
          </a:solidFill>
          <a:ln w="12700">
            <a:solidFill>
              <a:srgbClr val="0766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10896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E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remove ambiguity from the AI — the agent follows the decision tree, not its training data.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32954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4572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Skills at a Glance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74320" y="640080"/>
            <a:ext cx="8595360" cy="768096"/>
          </a:xfrm>
          <a:prstGeom prst="roundRect">
            <a:avLst>
              <a:gd name="adj" fmla="val 8333"/>
            </a:avLst>
          </a:prstGeom>
          <a:solidFill>
            <a:srgbClr val="032954"/>
          </a:solidFill>
          <a:ln w="6350">
            <a:solidFill>
              <a:srgbClr val="4398F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84048" y="768096"/>
            <a:ext cx="1005840" cy="274320"/>
          </a:xfrm>
          <a:prstGeom prst="roundRect">
            <a:avLst>
              <a:gd name="adj" fmla="val 13333"/>
            </a:avLst>
          </a:prstGeom>
          <a:solidFill>
            <a:srgbClr val="4398F9"/>
          </a:solidFill>
          <a:ln/>
        </p:spPr>
      </p:sp>
      <p:sp>
        <p:nvSpPr>
          <p:cNvPr id="7" name="Text 5"/>
          <p:cNvSpPr/>
          <p:nvPr/>
        </p:nvSpPr>
        <p:spPr>
          <a:xfrm>
            <a:off x="384048" y="768096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463040" y="73152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score-strategy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114800" y="731520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point. Classifies model type from the request and delegates to the correct specialist skill.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74320" y="1481328"/>
            <a:ext cx="8595360" cy="768096"/>
          </a:xfrm>
          <a:prstGeom prst="roundRect">
            <a:avLst>
              <a:gd name="adj" fmla="val 8333"/>
            </a:avLst>
          </a:prstGeom>
          <a:solidFill>
            <a:srgbClr val="C4DEFD"/>
          </a:solidFill>
          <a:ln w="6350">
            <a:solidFill>
              <a:srgbClr val="4398F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84048" y="1609344"/>
            <a:ext cx="1005840" cy="274320"/>
          </a:xfrm>
          <a:prstGeom prst="roundRect">
            <a:avLst>
              <a:gd name="adj" fmla="val 13333"/>
            </a:avLst>
          </a:prstGeom>
          <a:solidFill>
            <a:srgbClr val="032954"/>
          </a:solidFill>
          <a:ln/>
        </p:spPr>
      </p:sp>
      <p:sp>
        <p:nvSpPr>
          <p:cNvPr id="12" name="Text 10"/>
          <p:cNvSpPr/>
          <p:nvPr/>
        </p:nvSpPr>
        <p:spPr>
          <a:xfrm>
            <a:off x="384048" y="1609344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· SCR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463040" y="1572768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score-mas-scr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114800" y="1572768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MAS (default) and SCR models.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→ Score pattern with verification.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274320" y="2322576"/>
            <a:ext cx="8595360" cy="768096"/>
          </a:xfrm>
          <a:prstGeom prst="roundRect">
            <a:avLst>
              <a:gd name="adj" fmla="val 8333"/>
            </a:avLst>
          </a:prstGeom>
          <a:solidFill>
            <a:srgbClr val="C4DEFD"/>
          </a:solidFill>
          <a:ln w="6350">
            <a:solidFill>
              <a:srgbClr val="4398F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84048" y="2450592"/>
            <a:ext cx="1005840" cy="274320"/>
          </a:xfrm>
          <a:prstGeom prst="roundRect">
            <a:avLst>
              <a:gd name="adj" fmla="val 13333"/>
            </a:avLst>
          </a:prstGeom>
          <a:solidFill>
            <a:srgbClr val="032954"/>
          </a:solidFill>
          <a:ln/>
        </p:spPr>
      </p:sp>
      <p:sp>
        <p:nvSpPr>
          <p:cNvPr id="17" name="Text 15"/>
          <p:cNvSpPr/>
          <p:nvPr/>
        </p:nvSpPr>
        <p:spPr>
          <a:xfrm>
            <a:off x="384048" y="2450592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· JobDef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463040" y="2414016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score-job-jobdef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114800" y="2414016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Job and JobDef model types.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→ Score pattern with verification.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274320" y="3163824"/>
            <a:ext cx="8595360" cy="768096"/>
          </a:xfrm>
          <a:prstGeom prst="roundRect">
            <a:avLst>
              <a:gd name="adj" fmla="val 8333"/>
            </a:avLst>
          </a:prstGeom>
          <a:solidFill>
            <a:srgbClr val="C4DEFD"/>
          </a:solidFill>
          <a:ln w="6350">
            <a:solidFill>
              <a:srgbClr val="4398F9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84048" y="3291840"/>
            <a:ext cx="1005840" cy="274320"/>
          </a:xfrm>
          <a:prstGeom prst="roundRect">
            <a:avLst>
              <a:gd name="adj" fmla="val 13333"/>
            </a:avLst>
          </a:prstGeom>
          <a:solidFill>
            <a:srgbClr val="032954"/>
          </a:solidFill>
          <a:ln/>
        </p:spPr>
      </p:sp>
      <p:sp>
        <p:nvSpPr>
          <p:cNvPr id="22" name="Text 20"/>
          <p:cNvSpPr/>
          <p:nvPr/>
        </p:nvSpPr>
        <p:spPr>
          <a:xfrm>
            <a:off x="384048" y="3291840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 · Macro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463040" y="3255264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score-program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114800" y="3255264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SAS Program (.sas) and Macro.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execution — no verify step.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74320" y="4005072"/>
            <a:ext cx="8595360" cy="768096"/>
          </a:xfrm>
          <a:prstGeom prst="roundRect">
            <a:avLst>
              <a:gd name="adj" fmla="val 8333"/>
            </a:avLst>
          </a:prstGeom>
          <a:solidFill>
            <a:srgbClr val="0766D1"/>
          </a:solidFill>
          <a:ln w="6350">
            <a:solidFill>
              <a:srgbClr val="4398F9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84048" y="4133088"/>
            <a:ext cx="1005840" cy="274320"/>
          </a:xfrm>
          <a:prstGeom prst="roundRect">
            <a:avLst>
              <a:gd name="adj" fmla="val 13333"/>
            </a:avLst>
          </a:prstGeom>
          <a:solidFill>
            <a:srgbClr val="4398F9"/>
          </a:solidFill>
          <a:ln/>
        </p:spPr>
      </p:sp>
      <p:sp>
        <p:nvSpPr>
          <p:cNvPr id="27" name="Text 25"/>
          <p:cNvSpPr/>
          <p:nvPr/>
        </p:nvSpPr>
        <p:spPr>
          <a:xfrm>
            <a:off x="384048" y="4133088"/>
            <a:ext cx="1005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463040" y="4096512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score-cas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114800" y="4096512"/>
            <a:ext cx="4572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Handles CAS Program (.casl) and CAS Model tables.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model forms: inline src or casmodel table.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32954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4572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score-strategy — Routing Rules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566928"/>
            <a:ext cx="3017520" cy="347472"/>
          </a:xfrm>
          <a:prstGeom prst="rect">
            <a:avLst/>
          </a:prstGeom>
          <a:solidFill>
            <a:srgbClr val="032954"/>
          </a:solidFill>
          <a:ln/>
        </p:spPr>
      </p:sp>
      <p:sp>
        <p:nvSpPr>
          <p:cNvPr id="6" name="Text 4"/>
          <p:cNvSpPr/>
          <p:nvPr/>
        </p:nvSpPr>
        <p:spPr>
          <a:xfrm>
            <a:off x="393192" y="585216"/>
            <a:ext cx="28712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Suffix / Signal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429000" y="566928"/>
            <a:ext cx="2011680" cy="347472"/>
          </a:xfrm>
          <a:prstGeom prst="rect">
            <a:avLst/>
          </a:prstGeom>
          <a:solidFill>
            <a:srgbClr val="032954"/>
          </a:solidFill>
          <a:ln/>
        </p:spPr>
      </p:sp>
      <p:sp>
        <p:nvSpPr>
          <p:cNvPr id="8" name="Text 6"/>
          <p:cNvSpPr/>
          <p:nvPr/>
        </p:nvSpPr>
        <p:spPr>
          <a:xfrm>
            <a:off x="3502152" y="585216"/>
            <a:ext cx="186537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Type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5532120" y="566928"/>
            <a:ext cx="3291840" cy="347472"/>
          </a:xfrm>
          <a:prstGeom prst="rect">
            <a:avLst/>
          </a:prstGeom>
          <a:solidFill>
            <a:srgbClr val="032954"/>
          </a:solidFill>
          <a:ln/>
        </p:spPr>
      </p:sp>
      <p:sp>
        <p:nvSpPr>
          <p:cNvPr id="10" name="Text 8"/>
          <p:cNvSpPr/>
          <p:nvPr/>
        </p:nvSpPr>
        <p:spPr>
          <a:xfrm>
            <a:off x="5605272" y="585216"/>
            <a:ext cx="31455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20040" y="960120"/>
            <a:ext cx="8503920" cy="457200"/>
          </a:xfrm>
          <a:prstGeom prst="rect">
            <a:avLst/>
          </a:prstGeom>
          <a:solidFill>
            <a:srgbClr val="F4F8FF"/>
          </a:solidFill>
          <a:ln/>
        </p:spPr>
      </p:sp>
      <p:sp>
        <p:nvSpPr>
          <p:cNvPr id="12" name="Text 10"/>
          <p:cNvSpPr/>
          <p:nvPr/>
        </p:nvSpPr>
        <p:spPr>
          <a:xfrm>
            <a:off x="393192" y="960120"/>
            <a:ext cx="2944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3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.mas  (or no suffix)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502152" y="96012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605272" y="960120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3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score-mas-scr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320040" y="1453896"/>
            <a:ext cx="85039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6" name="Text 14"/>
          <p:cNvSpPr/>
          <p:nvPr/>
        </p:nvSpPr>
        <p:spPr>
          <a:xfrm>
            <a:off x="393192" y="1453896"/>
            <a:ext cx="2944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3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.scr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502152" y="1453896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5605272" y="1453896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3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score-mas-scr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20040" y="1947672"/>
            <a:ext cx="8503920" cy="457200"/>
          </a:xfrm>
          <a:prstGeom prst="rect">
            <a:avLst/>
          </a:prstGeom>
          <a:solidFill>
            <a:srgbClr val="F4F8FF"/>
          </a:solidFill>
          <a:ln/>
        </p:spPr>
      </p:sp>
      <p:sp>
        <p:nvSpPr>
          <p:cNvPr id="20" name="Text 18"/>
          <p:cNvSpPr/>
          <p:nvPr/>
        </p:nvSpPr>
        <p:spPr>
          <a:xfrm>
            <a:off x="393192" y="1947672"/>
            <a:ext cx="2944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3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.job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3502152" y="1947672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5605272" y="1947672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3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score-job-jobdef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320040" y="2441448"/>
            <a:ext cx="85039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93192" y="2441448"/>
            <a:ext cx="2944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3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.jobdef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502152" y="2441448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JobDef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605272" y="2441448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3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score-job-jobdef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320040" y="2935224"/>
            <a:ext cx="8503920" cy="457200"/>
          </a:xfrm>
          <a:prstGeom prst="rect">
            <a:avLst/>
          </a:prstGeom>
          <a:solidFill>
            <a:srgbClr val="F4F8FF"/>
          </a:solidFill>
          <a:ln/>
        </p:spPr>
      </p:sp>
      <p:sp>
        <p:nvSpPr>
          <p:cNvPr id="28" name="Text 26"/>
          <p:cNvSpPr/>
          <p:nvPr/>
        </p:nvSpPr>
        <p:spPr>
          <a:xfrm>
            <a:off x="393192" y="2935224"/>
            <a:ext cx="2944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3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.sas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3502152" y="2935224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 Program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605272" y="2935224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3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score-program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320040" y="3429000"/>
            <a:ext cx="85039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393192" y="3429000"/>
            <a:ext cx="2944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3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macro name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3502152" y="3429000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Macro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5605272" y="3429000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3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score-program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320040" y="3922776"/>
            <a:ext cx="8503920" cy="457200"/>
          </a:xfrm>
          <a:prstGeom prst="rect">
            <a:avLst/>
          </a:prstGeom>
          <a:solidFill>
            <a:srgbClr val="F4F8FF"/>
          </a:solidFill>
          <a:ln/>
        </p:spPr>
      </p:sp>
      <p:sp>
        <p:nvSpPr>
          <p:cNvPr id="36" name="Text 34"/>
          <p:cNvSpPr/>
          <p:nvPr/>
        </p:nvSpPr>
        <p:spPr>
          <a:xfrm>
            <a:off x="393192" y="3922776"/>
            <a:ext cx="2944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3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.casl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3502152" y="3922776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Program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5605272" y="3922776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3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score-cas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040" y="4416552"/>
            <a:ext cx="8503920" cy="4572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393192" y="4416552"/>
            <a:ext cx="29443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3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lib.table  +  "cas model"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3502152" y="4416552"/>
            <a:ext cx="19385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 Model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5605272" y="4416552"/>
            <a:ext cx="31455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3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score-cas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32954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4572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score-cas  —  Skill Deep Dive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64008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can take two forms — both handled by one tool: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65760" y="1097280"/>
            <a:ext cx="4023360" cy="1828800"/>
          </a:xfrm>
          <a:prstGeom prst="roundRect">
            <a:avLst>
              <a:gd name="adj" fmla="val 5000"/>
            </a:avLst>
          </a:prstGeom>
          <a:solidFill>
            <a:srgbClr val="C4DEFD"/>
          </a:solidFill>
          <a:ln w="6350">
            <a:solidFill>
              <a:srgbClr val="4398F9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1 — Inline Src Code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02920" y="14813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provides CASL code directly.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502920" y="1783080"/>
            <a:ext cx="3749040" cy="777240"/>
          </a:xfrm>
          <a:prstGeom prst="rect">
            <a:avLst/>
          </a:prstGeom>
          <a:solidFill>
            <a:srgbClr val="EBF3FF"/>
          </a:solidFill>
          <a:ln w="3810">
            <a:solidFill>
              <a:srgbClr val="4398F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66928" y="1810512"/>
            <a:ext cx="362102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3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src: "action echo;", scenario: {...}, output, limit }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754880" y="1097280"/>
            <a:ext cx="4023360" cy="1828800"/>
          </a:xfrm>
          <a:prstGeom prst="roundRect">
            <a:avLst>
              <a:gd name="adj" fmla="val 5000"/>
            </a:avLst>
          </a:prstGeom>
          <a:solidFill>
            <a:srgbClr val="C4DEFD"/>
          </a:solidFill>
          <a:ln w="12700">
            <a:solidFill>
              <a:srgbClr val="0766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114300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 2 — CAS Model Table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92040" y="1481328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Persisted model table in CAS (lib.table + optional name).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892040" y="1783080"/>
            <a:ext cx="3749040" cy="777240"/>
          </a:xfrm>
          <a:prstGeom prst="rect">
            <a:avLst/>
          </a:prstGeom>
          <a:solidFill>
            <a:srgbClr val="EBF3FF"/>
          </a:solidFill>
          <a:ln w="3810">
            <a:solidFill>
              <a:srgbClr val="0766D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956048" y="1810512"/>
            <a:ext cx="362102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3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 casmodel: "mylib.abc", name: "opt", scenario: {...} }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1828800" y="2999232"/>
            <a:ext cx="640080" cy="365760"/>
          </a:xfrm>
          <a:prstGeom prst="downArrow">
            <a:avLst/>
          </a:prstGeom>
          <a:solidFill>
            <a:srgbClr val="4398F9"/>
          </a:solidFill>
          <a:ln w="12700">
            <a:solidFill>
              <a:srgbClr val="4398F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400800" y="2999232"/>
            <a:ext cx="640080" cy="365760"/>
          </a:xfrm>
          <a:prstGeom prst="downArrow">
            <a:avLst/>
          </a:prstGeom>
          <a:solidFill>
            <a:srgbClr val="0766D1"/>
          </a:solidFill>
          <a:ln w="12700">
            <a:solidFill>
              <a:srgbClr val="0766D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60320" y="3429000"/>
            <a:ext cx="4023360" cy="594360"/>
          </a:xfrm>
          <a:prstGeom prst="roundRect">
            <a:avLst>
              <a:gd name="adj" fmla="val 12308"/>
            </a:avLst>
          </a:prstGeom>
          <a:solidFill>
            <a:srgbClr val="0766D1"/>
          </a:solidFill>
          <a:ln w="12700">
            <a:solidFill>
              <a:srgbClr val="0766D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60320" y="3429000"/>
            <a:ext cx="4023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sas-score-cas-program-score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2560320" y="4096512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E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verify step — executes directly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32954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4572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*read-strategy  —  Reading Tables from SAS Viya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20040" y="621792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Determines whether to use raw row reads or SQL aggregation, and how to parse row-count requests.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042416"/>
            <a:ext cx="8503920" cy="475488"/>
          </a:xfrm>
          <a:prstGeom prst="roundRect">
            <a:avLst>
              <a:gd name="adj" fmla="val 13462"/>
            </a:avLst>
          </a:prstGeom>
          <a:solidFill>
            <a:srgbClr val="032954"/>
          </a:solidFill>
          <a:ln w="12700">
            <a:solidFill>
              <a:srgbClr val="03295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1042416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 Verify table exists first  →  sas-score-find-table  (do not check library separately)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097280" y="1664208"/>
            <a:ext cx="6949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the request need aggregation (COUNT/SUM/AVG/GROUP BY) or a JOIN?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0040" y="2194560"/>
            <a:ext cx="3840480" cy="1261872"/>
          </a:xfrm>
          <a:prstGeom prst="roundRect">
            <a:avLst>
              <a:gd name="adj" fmla="val 6522"/>
            </a:avLst>
          </a:prstGeom>
          <a:solidFill>
            <a:srgbClr val="C4DEFD"/>
          </a:solidFill>
          <a:ln w="6350">
            <a:solidFill>
              <a:srgbClr val="4398F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24028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  →  sas-score-sas-query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57200" y="2578608"/>
            <a:ext cx="3566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3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COUNT, SUM, AVG, MIN, MAX
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3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GROUP BY / JOIN / computed columns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983480" y="2194560"/>
            <a:ext cx="3840480" cy="1261872"/>
          </a:xfrm>
          <a:prstGeom prst="roundRect">
            <a:avLst>
              <a:gd name="adj" fmla="val 6522"/>
            </a:avLst>
          </a:prstGeom>
          <a:solidFill>
            <a:srgbClr val="C4DEFD"/>
          </a:solidFill>
          <a:ln w="6350">
            <a:solidFill>
              <a:srgbClr val="4398F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20640" y="2240280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 →  sas-score-read-table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120640" y="2578608"/>
            <a:ext cx="35661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3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Raw rows, browsing, filtered reads
</a:t>
            </a:r>
            <a:endParaRPr lang="en-US" sz="950" dirty="0"/>
          </a:p>
          <a:p>
            <a:pPr marL="342900" indent="-342900">
              <a:buSzPct val="100000"/>
              <a:buChar char="•"/>
            </a:pPr>
            <a:r>
              <a:rPr lang="en-US" sz="950" dirty="0">
                <a:solidFill>
                  <a:srgbClr val="03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WHERE clause alone  →  use where= param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2011680" y="2029968"/>
            <a:ext cx="640080" cy="164592"/>
          </a:xfrm>
          <a:prstGeom prst="downArrow">
            <a:avLst/>
          </a:prstGeom>
          <a:solidFill>
            <a:srgbClr val="4398F9"/>
          </a:solidFill>
          <a:ln w="12700">
            <a:solidFill>
              <a:srgbClr val="4398F9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92240" y="2029968"/>
            <a:ext cx="640080" cy="164592"/>
          </a:xfrm>
          <a:prstGeom prst="downArrow">
            <a:avLst/>
          </a:prstGeom>
          <a:solidFill>
            <a:srgbClr val="4398F9"/>
          </a:solidFill>
          <a:ln w="12700">
            <a:solidFill>
              <a:srgbClr val="4398F9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463040" y="2029968"/>
            <a:ext cx="5029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766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YES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7150608" y="2029968"/>
            <a:ext cx="41148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766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20040" y="3602736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Count Parsing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20040" y="3913632"/>
            <a:ext cx="4206240" cy="274320"/>
          </a:xfrm>
          <a:prstGeom prst="rect">
            <a:avLst/>
          </a:prstGeom>
          <a:solidFill>
            <a:srgbClr val="032954"/>
          </a:solidFill>
          <a:ln/>
        </p:spPr>
      </p:sp>
      <p:sp>
        <p:nvSpPr>
          <p:cNvPr id="21" name="Text 19"/>
          <p:cNvSpPr/>
          <p:nvPr/>
        </p:nvSpPr>
        <p:spPr>
          <a:xfrm>
            <a:off x="393192" y="3922776"/>
            <a:ext cx="40599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says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4617720" y="3913632"/>
            <a:ext cx="1371600" cy="274320"/>
          </a:xfrm>
          <a:prstGeom prst="rect">
            <a:avLst/>
          </a:prstGeom>
          <a:solidFill>
            <a:srgbClr val="032954"/>
          </a:solidFill>
          <a:ln/>
        </p:spPr>
      </p:sp>
      <p:sp>
        <p:nvSpPr>
          <p:cNvPr id="23" name="Text 21"/>
          <p:cNvSpPr/>
          <p:nvPr/>
        </p:nvSpPr>
        <p:spPr>
          <a:xfrm>
            <a:off x="4690872" y="3922776"/>
            <a:ext cx="12252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start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6080760" y="3913632"/>
            <a:ext cx="2651760" cy="274320"/>
          </a:xfrm>
          <a:prstGeom prst="rect">
            <a:avLst/>
          </a:prstGeom>
          <a:solidFill>
            <a:srgbClr val="032954"/>
          </a:solidFill>
          <a:ln/>
        </p:spPr>
      </p:sp>
      <p:sp>
        <p:nvSpPr>
          <p:cNvPr id="25" name="Text 23"/>
          <p:cNvSpPr/>
          <p:nvPr/>
        </p:nvSpPr>
        <p:spPr>
          <a:xfrm>
            <a:off x="6153912" y="3922776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20040" y="4224528"/>
            <a:ext cx="8412480" cy="164592"/>
          </a:xfrm>
          <a:prstGeom prst="rect">
            <a:avLst/>
          </a:prstGeom>
          <a:solidFill>
            <a:srgbClr val="F4F8FF"/>
          </a:solidFill>
          <a:ln/>
        </p:spPr>
      </p:sp>
      <p:sp>
        <p:nvSpPr>
          <p:cNvPr id="27" name="Text 25"/>
          <p:cNvSpPr/>
          <p:nvPr/>
        </p:nvSpPr>
        <p:spPr>
          <a:xfrm>
            <a:off x="393192" y="4224528"/>
            <a:ext cx="41513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3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"first N rows / records"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690872" y="4224528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153912" y="4224528"/>
            <a:ext cx="2578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320040" y="4398264"/>
            <a:ext cx="8412480" cy="1645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1" name="Text 29"/>
          <p:cNvSpPr/>
          <p:nvPr/>
        </p:nvSpPr>
        <p:spPr>
          <a:xfrm>
            <a:off x="393192" y="4398264"/>
            <a:ext cx="41513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3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"top N rows"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4690872" y="4398264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6153912" y="4398264"/>
            <a:ext cx="2578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320040" y="4572000"/>
            <a:ext cx="8412480" cy="164592"/>
          </a:xfrm>
          <a:prstGeom prst="rect">
            <a:avLst/>
          </a:prstGeom>
          <a:solidFill>
            <a:srgbClr val="F4F8FF"/>
          </a:solidFill>
          <a:ln/>
        </p:spPr>
      </p:sp>
      <p:sp>
        <p:nvSpPr>
          <p:cNvPr id="35" name="Text 33"/>
          <p:cNvSpPr/>
          <p:nvPr/>
        </p:nvSpPr>
        <p:spPr>
          <a:xfrm>
            <a:off x="393192" y="4572000"/>
            <a:ext cx="41513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3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"rows N to M"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690872" y="4572000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6153912" y="4572000"/>
            <a:ext cx="2578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M−N+1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320040" y="4745736"/>
            <a:ext cx="8412480" cy="16459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Text 37"/>
          <p:cNvSpPr/>
          <p:nvPr/>
        </p:nvSpPr>
        <p:spPr>
          <a:xfrm>
            <a:off x="393192" y="4745736"/>
            <a:ext cx="41513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3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"starting from row N"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690872" y="4745736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6153912" y="4745736"/>
            <a:ext cx="2578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320040" y="4919472"/>
            <a:ext cx="8412480" cy="164592"/>
          </a:xfrm>
          <a:prstGeom prst="rect">
            <a:avLst/>
          </a:prstGeom>
          <a:solidFill>
            <a:srgbClr val="F4F8FF"/>
          </a:solidFill>
          <a:ln/>
        </p:spPr>
      </p:sp>
      <p:sp>
        <p:nvSpPr>
          <p:cNvPr id="43" name="Text 41"/>
          <p:cNvSpPr/>
          <p:nvPr/>
        </p:nvSpPr>
        <p:spPr>
          <a:xfrm>
            <a:off x="393192" y="4919472"/>
            <a:ext cx="41513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3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(not specified)</a:t>
            </a:r>
            <a:endParaRPr lang="en-US" sz="850" dirty="0"/>
          </a:p>
        </p:txBody>
      </p:sp>
      <p:sp>
        <p:nvSpPr>
          <p:cNvPr id="44" name="Text 42"/>
          <p:cNvSpPr/>
          <p:nvPr/>
        </p:nvSpPr>
        <p:spPr>
          <a:xfrm>
            <a:off x="4690872" y="4919472"/>
            <a:ext cx="12984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sp>
        <p:nvSpPr>
          <p:cNvPr id="45" name="Text 43"/>
          <p:cNvSpPr/>
          <p:nvPr/>
        </p:nvSpPr>
        <p:spPr>
          <a:xfrm>
            <a:off x="6153912" y="4919472"/>
            <a:ext cx="25786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9144000" cy="502920"/>
          </a:xfrm>
          <a:prstGeom prst="rect">
            <a:avLst/>
          </a:prstGeom>
          <a:solidFill>
            <a:srgbClr val="032954"/>
          </a:solidFill>
          <a:ln/>
        </p:spPr>
      </p:sp>
      <p:sp>
        <p:nvSpPr>
          <p:cNvPr id="4" name="Text 2"/>
          <p:cNvSpPr/>
          <p:nvPr/>
        </p:nvSpPr>
        <p:spPr>
          <a:xfrm>
            <a:off x="274320" y="45720"/>
            <a:ext cx="8595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Request Flow  —  Skills Working Together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2880" y="658368"/>
            <a:ext cx="1572768" cy="749808"/>
          </a:xfrm>
          <a:prstGeom prst="roundRect">
            <a:avLst>
              <a:gd name="adj" fmla="val 9756"/>
            </a:avLst>
          </a:prstGeom>
          <a:solidFill>
            <a:srgbClr val="7E889A"/>
          </a:solidFill>
          <a:ln w="12700">
            <a:solidFill>
              <a:srgbClr val="7E889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82880" y="658368"/>
            <a:ext cx="15727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1773936" y="886968"/>
            <a:ext cx="219456" cy="292608"/>
          </a:xfrm>
          <a:prstGeom prst="rightArrow">
            <a:avLst/>
          </a:prstGeom>
          <a:solidFill>
            <a:srgbClr val="BAC0C9"/>
          </a:solidFill>
          <a:ln w="12700">
            <a:solidFill>
              <a:srgbClr val="BAC0C9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1920240" y="658368"/>
            <a:ext cx="1572768" cy="749808"/>
          </a:xfrm>
          <a:prstGeom prst="roundRect">
            <a:avLst>
              <a:gd name="adj" fmla="val 9756"/>
            </a:avLst>
          </a:prstGeom>
          <a:solidFill>
            <a:srgbClr val="032954"/>
          </a:solidFill>
          <a:ln w="12700">
            <a:solidFill>
              <a:srgbClr val="03295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920240" y="658368"/>
            <a:ext cx="15727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*request-routing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(classify)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511296" y="886968"/>
            <a:ext cx="219456" cy="292608"/>
          </a:xfrm>
          <a:prstGeom prst="rightArrow">
            <a:avLst/>
          </a:prstGeom>
          <a:solidFill>
            <a:srgbClr val="BAC0C9"/>
          </a:solidFill>
          <a:ln w="12700">
            <a:solidFill>
              <a:srgbClr val="BAC0C9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657600" y="658368"/>
            <a:ext cx="1572768" cy="749808"/>
          </a:xfrm>
          <a:prstGeom prst="roundRect">
            <a:avLst>
              <a:gd name="adj" fmla="val 9756"/>
            </a:avLst>
          </a:prstGeom>
          <a:solidFill>
            <a:srgbClr val="0766D1"/>
          </a:solidFill>
          <a:ln w="12700">
            <a:solidFill>
              <a:srgbClr val="0766D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0" y="658368"/>
            <a:ext cx="15727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*score-strategy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(route)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248656" y="886968"/>
            <a:ext cx="219456" cy="292608"/>
          </a:xfrm>
          <a:prstGeom prst="rightArrow">
            <a:avLst/>
          </a:prstGeom>
          <a:solidFill>
            <a:srgbClr val="BAC0C9"/>
          </a:solidFill>
          <a:ln w="12700">
            <a:solidFill>
              <a:srgbClr val="BAC0C9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394960" y="658368"/>
            <a:ext cx="1572768" cy="749808"/>
          </a:xfrm>
          <a:prstGeom prst="roundRect">
            <a:avLst>
              <a:gd name="adj" fmla="val 9756"/>
            </a:avLst>
          </a:prstGeom>
          <a:solidFill>
            <a:srgbClr val="4398F9"/>
          </a:solidFill>
          <a:ln w="12700">
            <a:solidFill>
              <a:srgbClr val="4398F9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94960" y="658368"/>
            <a:ext cx="15727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*specialist skill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(verify+score)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986016" y="886968"/>
            <a:ext cx="219456" cy="292608"/>
          </a:xfrm>
          <a:prstGeom prst="rightArrow">
            <a:avLst/>
          </a:prstGeom>
          <a:solidFill>
            <a:srgbClr val="BAC0C9"/>
          </a:solidFill>
          <a:ln w="12700">
            <a:solidFill>
              <a:srgbClr val="BAC0C9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132320" y="658368"/>
            <a:ext cx="1572768" cy="749808"/>
          </a:xfrm>
          <a:prstGeom prst="roundRect">
            <a:avLst>
              <a:gd name="adj" fmla="val 9756"/>
            </a:avLst>
          </a:prstGeom>
          <a:solidFill>
            <a:srgbClr val="032954"/>
          </a:solidFill>
          <a:ln w="12700">
            <a:solidFill>
              <a:srgbClr val="03295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32320" y="658368"/>
            <a:ext cx="1572768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 Viya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(result)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74320" y="160020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request-routing classifies the action: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2880" y="1947672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032954"/>
          </a:solidFill>
          <a:ln w="6350">
            <a:solidFill>
              <a:srgbClr val="4398F9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92608" y="2039112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292608" y="2386584"/>
            <a:ext cx="1883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*score-strategy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specialist skill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scoring tool</a:t>
            </a:r>
            <a:endParaRPr lang="en-US" sz="950" dirty="0"/>
          </a:p>
        </p:txBody>
      </p:sp>
      <p:sp>
        <p:nvSpPr>
          <p:cNvPr id="23" name="Shape 21"/>
          <p:cNvSpPr/>
          <p:nvPr/>
        </p:nvSpPr>
        <p:spPr>
          <a:xfrm>
            <a:off x="2395728" y="1947672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0766D1"/>
          </a:solidFill>
          <a:ln w="6350">
            <a:solidFill>
              <a:srgbClr val="4398F9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505456" y="2039112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/ Query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2505456" y="2386584"/>
            <a:ext cx="1883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*read-strategy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read-table or sas-query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4608576" y="1947672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4398F9"/>
          </a:solidFill>
          <a:ln w="6350">
            <a:solidFill>
              <a:srgbClr val="4398F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18304" y="2039112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/ Verify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4718304" y="2386584"/>
            <a:ext cx="1883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*find-resources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find-* tool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6821424" y="1947672"/>
            <a:ext cx="2103120" cy="1417320"/>
          </a:xfrm>
          <a:prstGeom prst="roundRect">
            <a:avLst>
              <a:gd name="adj" fmla="val 5161"/>
            </a:avLst>
          </a:prstGeom>
          <a:solidFill>
            <a:srgbClr val="C4DEFD"/>
          </a:solidFill>
          <a:ln w="6350">
            <a:solidFill>
              <a:srgbClr val="4398F9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931152" y="2039112"/>
            <a:ext cx="1883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/ Describe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931152" y="2386584"/>
            <a:ext cx="188366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*list-resource / *detail-strategy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list-* or describe tool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274320" y="3246120"/>
            <a:ext cx="8595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path detail  (score-strategy routing):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182880" y="3593592"/>
            <a:ext cx="2103120" cy="1353312"/>
          </a:xfrm>
          <a:prstGeom prst="roundRect">
            <a:avLst>
              <a:gd name="adj" fmla="val 5405"/>
            </a:avLst>
          </a:prstGeom>
          <a:solidFill>
            <a:srgbClr val="F0F5FF"/>
          </a:solidFill>
          <a:ln w="10160">
            <a:solidFill>
              <a:srgbClr val="4398F9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182880" y="3593592"/>
            <a:ext cx="2103120" cy="347472"/>
          </a:xfrm>
          <a:prstGeom prst="roundRect">
            <a:avLst>
              <a:gd name="adj" fmla="val 21053"/>
            </a:avLst>
          </a:prstGeom>
          <a:solidFill>
            <a:srgbClr val="4398F9"/>
          </a:solidFill>
          <a:ln w="12700">
            <a:solidFill>
              <a:srgbClr val="4398F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56032" y="3621024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*score-mas-scr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274320" y="39959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 · SCR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74320" y="4288536"/>
            <a:ext cx="1920240" cy="566928"/>
          </a:xfrm>
          <a:prstGeom prst="rect">
            <a:avLst/>
          </a:prstGeom>
          <a:solidFill>
            <a:srgbClr val="C4DEFD"/>
          </a:solidFill>
          <a:ln w="3810">
            <a:solidFill>
              <a:srgbClr val="4398F9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10896" y="4306824"/>
            <a:ext cx="18470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3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find-mas / mas-score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03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find-scr / scr-score</a:t>
            </a:r>
            <a:endParaRPr lang="en-US" sz="850" dirty="0"/>
          </a:p>
        </p:txBody>
      </p:sp>
      <p:sp>
        <p:nvSpPr>
          <p:cNvPr id="39" name="Shape 37"/>
          <p:cNvSpPr/>
          <p:nvPr/>
        </p:nvSpPr>
        <p:spPr>
          <a:xfrm>
            <a:off x="2395728" y="3593592"/>
            <a:ext cx="2103120" cy="1353312"/>
          </a:xfrm>
          <a:prstGeom prst="roundRect">
            <a:avLst>
              <a:gd name="adj" fmla="val 5405"/>
            </a:avLst>
          </a:prstGeom>
          <a:solidFill>
            <a:srgbClr val="F0F5FF"/>
          </a:solidFill>
          <a:ln w="10160">
            <a:solidFill>
              <a:srgbClr val="4398F9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395728" y="3593592"/>
            <a:ext cx="2103120" cy="347472"/>
          </a:xfrm>
          <a:prstGeom prst="roundRect">
            <a:avLst>
              <a:gd name="adj" fmla="val 21053"/>
            </a:avLst>
          </a:prstGeom>
          <a:solidFill>
            <a:srgbClr val="4398F9"/>
          </a:solidFill>
          <a:ln w="12700">
            <a:solidFill>
              <a:srgbClr val="4398F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468880" y="3621024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*score-job-jobdef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2487168" y="39959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· JobDef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2487168" y="4288536"/>
            <a:ext cx="1920240" cy="566928"/>
          </a:xfrm>
          <a:prstGeom prst="rect">
            <a:avLst/>
          </a:prstGeom>
          <a:solidFill>
            <a:srgbClr val="C4DEFD"/>
          </a:solidFill>
          <a:ln w="3810">
            <a:solidFill>
              <a:srgbClr val="4398F9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23744" y="4306824"/>
            <a:ext cx="18470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3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find-job / job-score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03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find-jobdef / jobdef-score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4608576" y="3593592"/>
            <a:ext cx="2103120" cy="1353312"/>
          </a:xfrm>
          <a:prstGeom prst="roundRect">
            <a:avLst>
              <a:gd name="adj" fmla="val 5405"/>
            </a:avLst>
          </a:prstGeom>
          <a:solidFill>
            <a:srgbClr val="F0F5FF"/>
          </a:solidFill>
          <a:ln w="10160">
            <a:solidFill>
              <a:srgbClr val="4398F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608576" y="3593592"/>
            <a:ext cx="2103120" cy="347472"/>
          </a:xfrm>
          <a:prstGeom prst="roundRect">
            <a:avLst>
              <a:gd name="adj" fmla="val 21053"/>
            </a:avLst>
          </a:prstGeom>
          <a:solidFill>
            <a:srgbClr val="4398F9"/>
          </a:solidFill>
          <a:ln w="12700">
            <a:solidFill>
              <a:srgbClr val="4398F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681728" y="3621024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*score-program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700016" y="39959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SAS · Macro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4700016" y="4288536"/>
            <a:ext cx="1920240" cy="566928"/>
          </a:xfrm>
          <a:prstGeom prst="rect">
            <a:avLst/>
          </a:prstGeom>
          <a:solidFill>
            <a:srgbClr val="C4DEFD"/>
          </a:solidFill>
          <a:ln w="3810">
            <a:solidFill>
              <a:srgbClr val="4398F9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736592" y="4306824"/>
            <a:ext cx="18470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3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program-score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03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score-macro</a:t>
            </a:r>
            <a:endParaRPr lang="en-US" sz="850" dirty="0"/>
          </a:p>
        </p:txBody>
      </p:sp>
      <p:sp>
        <p:nvSpPr>
          <p:cNvPr id="51" name="Shape 49"/>
          <p:cNvSpPr/>
          <p:nvPr/>
        </p:nvSpPr>
        <p:spPr>
          <a:xfrm>
            <a:off x="6821424" y="3593592"/>
            <a:ext cx="2103120" cy="1353312"/>
          </a:xfrm>
          <a:prstGeom prst="roundRect">
            <a:avLst>
              <a:gd name="adj" fmla="val 5405"/>
            </a:avLst>
          </a:prstGeom>
          <a:solidFill>
            <a:srgbClr val="F0F5FF"/>
          </a:solidFill>
          <a:ln w="10160">
            <a:solidFill>
              <a:srgbClr val="4398F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6821424" y="3593592"/>
            <a:ext cx="2103120" cy="347472"/>
          </a:xfrm>
          <a:prstGeom prst="roundRect">
            <a:avLst>
              <a:gd name="adj" fmla="val 21053"/>
            </a:avLst>
          </a:prstGeom>
          <a:solidFill>
            <a:srgbClr val="4398F9"/>
          </a:solidFill>
          <a:ln w="12700">
            <a:solidFill>
              <a:srgbClr val="4398F9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894576" y="3621024"/>
            <a:ext cx="1956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*score-cas</a:t>
            </a:r>
            <a:endParaRPr lang="en-US" sz="900" dirty="0"/>
          </a:p>
        </p:txBody>
      </p:sp>
      <p:sp>
        <p:nvSpPr>
          <p:cNvPr id="54" name="Text 52"/>
          <p:cNvSpPr/>
          <p:nvPr/>
        </p:nvSpPr>
        <p:spPr>
          <a:xfrm>
            <a:off x="6912864" y="39959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0329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912864" y="4288536"/>
            <a:ext cx="1920240" cy="566928"/>
          </a:xfrm>
          <a:prstGeom prst="rect">
            <a:avLst/>
          </a:prstGeom>
          <a:solidFill>
            <a:srgbClr val="C4DEFD"/>
          </a:solidFill>
          <a:ln w="3810">
            <a:solidFill>
              <a:srgbClr val="4398F9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949440" y="4306824"/>
            <a:ext cx="184708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3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cas-program-score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03295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(inline or table)</a:t>
            </a:r>
            <a:endParaRPr lang="en-US" sz="850" dirty="0"/>
          </a:p>
        </p:txBody>
      </p:sp>
      <p:sp>
        <p:nvSpPr>
          <p:cNvPr id="57" name="Shape 55"/>
          <p:cNvSpPr/>
          <p:nvPr/>
        </p:nvSpPr>
        <p:spPr>
          <a:xfrm>
            <a:off x="8851392" y="3566160"/>
            <a:ext cx="18288" cy="1371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74320" y="484632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766D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</a:t>
            </a:r>
            <a:pPr indent="0" marL="0">
              <a:buNone/>
            </a:pPr>
            <a:r>
              <a:rPr lang="en-US" sz="950" dirty="0">
                <a:solidFill>
                  <a:srgbClr val="7E88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skill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SAS Score MCP Server — Skills Overview</dc:title>
  <dc:subject>PptxGenJS Presentation</dc:subject>
  <dc:creator>PptxGenJS</dc:creator>
  <cp:lastModifiedBy>PptxGenJS</cp:lastModifiedBy>
  <cp:revision>1</cp:revision>
  <dcterms:created xsi:type="dcterms:W3CDTF">2026-06-03T14:44:54Z</dcterms:created>
  <dcterms:modified xsi:type="dcterms:W3CDTF">2026-06-03T14:44:54Z</dcterms:modified>
</cp:coreProperties>
</file>