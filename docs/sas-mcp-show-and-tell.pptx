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1" r:id="rId4"/>
    <p:sldId id="262" r:id="rId5"/>
    <p:sldId id="257" r:id="rId6"/>
    <p:sldId id="263" r:id="rId7"/>
    <p:sldId id="259" r:id="rId8"/>
    <p:sldId id="260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26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1063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2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766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4630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Score MCP Server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21945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439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SAS Viya Integration Workflow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29718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A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 ·  GitHub Copilot  ·  SAS Viya  ·  Model Context Protocol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Catalog  (29 Tools)  —  prefix: sas-score-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621792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032954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Models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060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list-mas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find-mas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682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mas-describe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993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mas-score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95728" y="621792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0766D1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87168" y="7132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 Models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87168" y="1060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list-scr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87168" y="1371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find-scr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487168" y="1682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scr-describe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487168" y="1993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scr-score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62856" y="621792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4398F9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54296" y="7132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Models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54296" y="1060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list-jobs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54296" y="1371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find-job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54296" y="1682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job-describe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54296" y="1993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job-score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29984" y="621792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21424" y="7132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JobDef Models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21424" y="1060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list-jobdefs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21424" y="1371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find-jobdef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821424" y="1682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jobdef-describe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21424" y="1993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jobdef-score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2798064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0F4F8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28895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32369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list-libraries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0040" y="3547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find-library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395728" y="2798064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0F4F8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487168" y="28895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87168" y="32369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list-tables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487168" y="3547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find-table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487168" y="3858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table-describe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487168" y="41696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read-table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487168" y="4480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sas-query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62856" y="2798064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0F4F8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54296" y="28895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· Macro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54296" y="32369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program-score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54296" y="3547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score-macro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729984" y="2798064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0766D1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21424" y="28895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Program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21424" y="32369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cas-program-score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032954"/>
          </a:solidFill>
          <a:ln w="635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5953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oauth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browser-based OAuth 2.0 with PKCE. Most secure.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65836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032954"/>
          </a:solidFill>
          <a:ln w="635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85953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oauthclient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0" y="14630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where the client app manages token exchange.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65836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0766D1"/>
          </a:solidFill>
          <a:ln w="635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72200" y="85953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172200" y="14630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valid SAS Viya access token directly.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76148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0766D1"/>
          </a:solidFill>
          <a:ln w="635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9626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" y="35661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access token from a local file path.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54680" y="276148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BAC0C9"/>
          </a:solidFill>
          <a:ln w="635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29626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sascli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91840" y="35661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auth from an existing sas-viya-cli profile.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276148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BAC0C9"/>
          </a:solidFill>
          <a:ln w="635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72200" y="29626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72200" y="35661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credential auth. Use with care.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Options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4114800" cy="4297680"/>
          </a:xfrm>
          <a:prstGeom prst="roundRect">
            <a:avLst>
              <a:gd name="adj" fmla="val 2222"/>
            </a:avLst>
          </a:prstGeom>
          <a:solidFill>
            <a:srgbClr val="032954"/>
          </a:solidFill>
          <a:ln w="381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CLI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1521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Transport  ·  HTTP Transport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499616"/>
            <a:ext cx="3749040" cy="402336"/>
          </a:xfrm>
          <a:prstGeom prst="rect">
            <a:avLst/>
          </a:prstGeom>
          <a:solidFill>
            <a:srgbClr val="1A4070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5179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@sassoftware/sas-score-mcp-serverjs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203911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global install needed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Stdio: Claude Desktop &amp; VS Code (local config)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35584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 any browser-based AI agent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014216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Claude.ai does not support localhost HTTP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621792"/>
            <a:ext cx="4114800" cy="4297680"/>
          </a:xfrm>
          <a:prstGeom prst="roundRect">
            <a:avLst>
              <a:gd name="adj" fmla="val 2222"/>
            </a:avLst>
          </a:prstGeom>
          <a:solidFill>
            <a:srgbClr val="0766D1"/>
          </a:solidFill>
          <a:ln w="381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749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11521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Transport  ·  OAuth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1499616"/>
            <a:ext cx="3749040" cy="402336"/>
          </a:xfrm>
          <a:prstGeom prst="rect">
            <a:avLst/>
          </a:prstGeom>
          <a:solidFill>
            <a:srgbClr val="1A4070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15179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ghcr.io/sassoftware/sas-score-mcp-serverjs:latest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83480" y="203911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from GitHub Container Registry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269748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server on port 8080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335584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concurrent support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83480" y="4014216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anywhere Docker runs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032954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78638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 ·  GitHub Copilot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51960" y="1243584"/>
            <a:ext cx="640080" cy="73152"/>
          </a:xfrm>
          <a:prstGeom prst="down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316736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0766D1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Layer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15361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Routing  ·  Decision Trees  ·  Strategies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1993392"/>
            <a:ext cx="640080" cy="73152"/>
          </a:xfrm>
          <a:prstGeom prst="down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066544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4398F9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21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2860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Registration  ·  Two-Tier Descriptions  ·  Cache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51960" y="2743200"/>
            <a:ext cx="640080" cy="73152"/>
          </a:xfrm>
          <a:prstGeom prst="down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816352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8712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30358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(Express + OAuth)   |   Stdio (CLI / Local)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3493008"/>
            <a:ext cx="640080" cy="73152"/>
          </a:xfrm>
          <a:prstGeom prst="down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EBF3FF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6210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378561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Tools: mas · scr · job · jobdef · program · cas · read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51960" y="4242816"/>
            <a:ext cx="640080" cy="73152"/>
          </a:xfrm>
          <a:prstGeom prst="down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4315968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032954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370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Viya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453542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 ·  SCR  ·  CAS Analytics  ·  Compute Jobs  ·  SCR Containers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Inventory  —  13 Skills, 4 Groups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603504"/>
            <a:ext cx="4251960" cy="274320"/>
          </a:xfrm>
          <a:prstGeom prst="roundRect">
            <a:avLst>
              <a:gd name="adj" fmla="val 16667"/>
            </a:avLst>
          </a:prstGeom>
          <a:solidFill>
            <a:srgbClr val="032954"/>
          </a:solidFill>
          <a:ln w="12700">
            <a:solidFill>
              <a:srgbClr val="032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60350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Entry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4251960" cy="512064"/>
          </a:xfrm>
          <a:prstGeom prst="roundRect">
            <a:avLst>
              <a:gd name="adj" fmla="val 10714"/>
            </a:avLst>
          </a:prstGeom>
          <a:solidFill>
            <a:srgbClr val="032954"/>
          </a:solidFill>
          <a:ln w="508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5097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*request-routing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117043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classifier — Score · Read · Find · List · Describe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1463040"/>
            <a:ext cx="4251960" cy="512064"/>
          </a:xfrm>
          <a:prstGeom prst="roundRect">
            <a:avLst>
              <a:gd name="adj" fmla="val 10714"/>
            </a:avLst>
          </a:prstGeom>
          <a:solidFill>
            <a:srgbClr val="1A3F6B"/>
          </a:solidFill>
          <a:ln w="508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49961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*score-strategy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171907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sub-router — delegates to specialist skill by model type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" y="2084832"/>
            <a:ext cx="4251960" cy="274320"/>
          </a:xfrm>
          <a:prstGeom prst="roundRect">
            <a:avLst>
              <a:gd name="adj" fmla="val 16667"/>
            </a:avLst>
          </a:prstGeom>
          <a:solidFill>
            <a:srgbClr val="0766D1"/>
          </a:solidFill>
          <a:ln w="12700">
            <a:solidFill>
              <a:srgbClr val="0766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2880" y="208483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Specialists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" y="2395728"/>
            <a:ext cx="2080260" cy="512064"/>
          </a:xfrm>
          <a:prstGeom prst="roundRect">
            <a:avLst>
              <a:gd name="adj" fmla="val 10714"/>
            </a:avLst>
          </a:prstGeom>
          <a:solidFill>
            <a:srgbClr val="C4DEFD"/>
          </a:solidFill>
          <a:ln w="508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432304"/>
            <a:ext cx="1897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*score-mas-scr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" y="2651760"/>
            <a:ext cx="1897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· SCR models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→ score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54580" y="2395728"/>
            <a:ext cx="2080260" cy="512064"/>
          </a:xfrm>
          <a:prstGeom prst="roundRect">
            <a:avLst>
              <a:gd name="adj" fmla="val 10714"/>
            </a:avLst>
          </a:prstGeom>
          <a:solidFill>
            <a:srgbClr val="C4DEFD"/>
          </a:solidFill>
          <a:ln w="508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446020" y="2432304"/>
            <a:ext cx="1897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*score-job-jobdef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446020" y="2651760"/>
            <a:ext cx="1897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· JobDef models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→ score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" y="2944368"/>
            <a:ext cx="2080260" cy="512064"/>
          </a:xfrm>
          <a:prstGeom prst="roundRect">
            <a:avLst>
              <a:gd name="adj" fmla="val 10714"/>
            </a:avLst>
          </a:prstGeom>
          <a:solidFill>
            <a:srgbClr val="C4DEFD"/>
          </a:solidFill>
          <a:ln w="508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980944"/>
            <a:ext cx="1897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*score-program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" y="3200400"/>
            <a:ext cx="1897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(.sas) · Macro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execution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354580" y="2944368"/>
            <a:ext cx="2080260" cy="512064"/>
          </a:xfrm>
          <a:prstGeom prst="roundRect">
            <a:avLst>
              <a:gd name="adj" fmla="val 10714"/>
            </a:avLst>
          </a:prstGeom>
          <a:solidFill>
            <a:srgbClr val="C4DEFD"/>
          </a:solidFill>
          <a:ln w="508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446020" y="2980944"/>
            <a:ext cx="1897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*score-cas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446020" y="3200400"/>
            <a:ext cx="1897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inline or table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execution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09160" y="603504"/>
            <a:ext cx="4251960" cy="274320"/>
          </a:xfrm>
          <a:prstGeom prst="roundRect">
            <a:avLst>
              <a:gd name="adj" fmla="val 16667"/>
            </a:avLst>
          </a:prstGeom>
          <a:solidFill>
            <a:srgbClr val="4398F9"/>
          </a:solidFill>
          <a:ln w="1270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60350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914400"/>
            <a:ext cx="4251960" cy="512064"/>
          </a:xfrm>
          <a:prstGeom prst="roundRect">
            <a:avLst>
              <a:gd name="adj" fmla="val 10714"/>
            </a:avLst>
          </a:prstGeom>
          <a:solidFill>
            <a:srgbClr val="C4DEFD"/>
          </a:solidFill>
          <a:ln w="508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0600" y="95097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*read-strategy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00600" y="117043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read-table vs sas-query decision + row-count parsing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09160" y="1463040"/>
            <a:ext cx="2080260" cy="512064"/>
          </a:xfrm>
          <a:prstGeom prst="roundRect">
            <a:avLst>
              <a:gd name="adj" fmla="val 10714"/>
            </a:avLst>
          </a:prstGeom>
          <a:solidFill>
            <a:srgbClr val="EBF3FF"/>
          </a:solidFill>
          <a:ln w="508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0600" y="1499616"/>
            <a:ext cx="1897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*find-resources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00600" y="1719072"/>
            <a:ext cx="1897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any resource exists before use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80860" y="1463040"/>
            <a:ext cx="2080260" cy="512064"/>
          </a:xfrm>
          <a:prstGeom prst="roundRect">
            <a:avLst>
              <a:gd name="adj" fmla="val 10714"/>
            </a:avLst>
          </a:prstGeom>
          <a:solidFill>
            <a:srgbClr val="EBF3FF"/>
          </a:solidFill>
          <a:ln w="508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72300" y="1499616"/>
            <a:ext cx="1897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*find-library-server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972300" y="1719072"/>
            <a:ext cx="1897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library → CAS or SAS server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09160" y="2084832"/>
            <a:ext cx="4251960" cy="274320"/>
          </a:xfrm>
          <a:prstGeom prst="roundRect">
            <a:avLst>
              <a:gd name="adj" fmla="val 16667"/>
            </a:avLst>
          </a:prstGeom>
          <a:solidFill>
            <a:srgbClr val="7E889A"/>
          </a:solidFill>
          <a:ln w="12700">
            <a:solidFill>
              <a:srgbClr val="7E8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09160" y="208483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Detail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2395728"/>
            <a:ext cx="2080260" cy="512064"/>
          </a:xfrm>
          <a:prstGeom prst="roundRect">
            <a:avLst>
              <a:gd name="adj" fmla="val 10714"/>
            </a:avLst>
          </a:prstGeom>
          <a:solidFill>
            <a:srgbClr val="F0F4F8"/>
          </a:solidFill>
          <a:ln w="508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00600" y="2432304"/>
            <a:ext cx="1897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*list-library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00600" y="2651760"/>
            <a:ext cx="1897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CAS or SAS libraries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880860" y="2395728"/>
            <a:ext cx="2080260" cy="512064"/>
          </a:xfrm>
          <a:prstGeom prst="roundRect">
            <a:avLst>
              <a:gd name="adj" fmla="val 10714"/>
            </a:avLst>
          </a:prstGeom>
          <a:solidFill>
            <a:srgbClr val="F0F4F8"/>
          </a:solidFill>
          <a:ln w="508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972300" y="2432304"/>
            <a:ext cx="1897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*list-tables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972300" y="2651760"/>
            <a:ext cx="1897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tables inside a library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09160" y="2944368"/>
            <a:ext cx="2080260" cy="512064"/>
          </a:xfrm>
          <a:prstGeom prst="roundRect">
            <a:avLst>
              <a:gd name="adj" fmla="val 10714"/>
            </a:avLst>
          </a:prstGeom>
          <a:solidFill>
            <a:srgbClr val="F0F4F8"/>
          </a:solidFill>
          <a:ln w="508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00600" y="2980944"/>
            <a:ext cx="1897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*list-mas-job-jobdef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00600" y="3200400"/>
            <a:ext cx="1897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MAS / Job / JobDef models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880860" y="2944368"/>
            <a:ext cx="2080260" cy="512064"/>
          </a:xfrm>
          <a:prstGeom prst="roundRect">
            <a:avLst>
              <a:gd name="adj" fmla="val 10714"/>
            </a:avLst>
          </a:prstGeom>
          <a:solidFill>
            <a:srgbClr val="F0F4F8"/>
          </a:solidFill>
          <a:ln w="508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972300" y="2980944"/>
            <a:ext cx="1897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*detail-strategy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972300" y="3200400"/>
            <a:ext cx="1897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/ metadata for any resource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82880" y="365760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76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</a:t>
            </a:r>
            <a:r>
              <a:rPr lang="en-US" sz="900" dirty="0">
                <a:solidFill>
                  <a:srgbClr val="7E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on all skill names denotes a SKILL.md decision-tree document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26280" y="566928"/>
            <a:ext cx="0" cy="3291840"/>
          </a:xfrm>
          <a:prstGeom prst="line">
            <a:avLst/>
          </a:prstGeom>
          <a:noFill/>
          <a:ln w="6350">
            <a:solidFill>
              <a:srgbClr val="BAC0C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Architecture  —  Decision Trees as Canonical Spec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108960" y="621792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032954"/>
          </a:solidFill>
          <a:ln w="12700">
            <a:solidFill>
              <a:srgbClr val="032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08960" y="62179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*score-strategy  (Router)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" y="1444752"/>
            <a:ext cx="2194560" cy="2084832"/>
          </a:xfrm>
          <a:prstGeom prst="roundRect">
            <a:avLst>
              <a:gd name="adj" fmla="val 4386"/>
            </a:avLst>
          </a:prstGeom>
          <a:solidFill>
            <a:srgbClr val="F4F8FF"/>
          </a:solidFill>
          <a:ln w="12700">
            <a:solidFill>
              <a:srgbClr val="4398F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5448" y="1572768"/>
            <a:ext cx="2103120" cy="621792"/>
          </a:xfrm>
          <a:prstGeom prst="roundRect">
            <a:avLst>
              <a:gd name="adj" fmla="val 10294"/>
            </a:avLst>
          </a:prstGeom>
          <a:solidFill>
            <a:srgbClr val="4398F9"/>
          </a:solidFill>
          <a:ln w="1270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5448" y="157276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*score-mas-scr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· SCR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55448" y="2377440"/>
            <a:ext cx="987552" cy="621792"/>
          </a:xfrm>
          <a:prstGeom prst="roundRect">
            <a:avLst>
              <a:gd name="adj" fmla="val 8824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5448" y="2377440"/>
            <a:ext cx="987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find-mas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mas-score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197864" y="2377440"/>
            <a:ext cx="987552" cy="621792"/>
          </a:xfrm>
          <a:prstGeom prst="roundRect">
            <a:avLst>
              <a:gd name="adj" fmla="val 8824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97864" y="2377440"/>
            <a:ext cx="987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find-scr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scr-score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76856" y="1444752"/>
            <a:ext cx="2194560" cy="2084832"/>
          </a:xfrm>
          <a:prstGeom prst="roundRect">
            <a:avLst>
              <a:gd name="adj" fmla="val 4386"/>
            </a:avLst>
          </a:prstGeom>
          <a:solidFill>
            <a:srgbClr val="F4F8FF"/>
          </a:solidFill>
          <a:ln w="12700">
            <a:solidFill>
              <a:srgbClr val="4398F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322576" y="1572768"/>
            <a:ext cx="2103120" cy="621792"/>
          </a:xfrm>
          <a:prstGeom prst="roundRect">
            <a:avLst>
              <a:gd name="adj" fmla="val 10294"/>
            </a:avLst>
          </a:prstGeom>
          <a:solidFill>
            <a:srgbClr val="4398F9"/>
          </a:solidFill>
          <a:ln w="1270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22576" y="157276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*score-job-jobdef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· JobDef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22576" y="2377440"/>
            <a:ext cx="987552" cy="621792"/>
          </a:xfrm>
          <a:prstGeom prst="roundRect">
            <a:avLst>
              <a:gd name="adj" fmla="val 8824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22576" y="2377440"/>
            <a:ext cx="987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find-job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job-score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364992" y="2377440"/>
            <a:ext cx="987552" cy="621792"/>
          </a:xfrm>
          <a:prstGeom prst="roundRect">
            <a:avLst>
              <a:gd name="adj" fmla="val 8824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64992" y="2377440"/>
            <a:ext cx="987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find-jobdef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jobdef-score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43984" y="1444752"/>
            <a:ext cx="2194560" cy="2084832"/>
          </a:xfrm>
          <a:prstGeom prst="roundRect">
            <a:avLst>
              <a:gd name="adj" fmla="val 4386"/>
            </a:avLst>
          </a:prstGeom>
          <a:solidFill>
            <a:srgbClr val="F4F8FF"/>
          </a:solidFill>
          <a:ln w="12700">
            <a:solidFill>
              <a:srgbClr val="4398F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89704" y="1572768"/>
            <a:ext cx="2103120" cy="621792"/>
          </a:xfrm>
          <a:prstGeom prst="roundRect">
            <a:avLst>
              <a:gd name="adj" fmla="val 10294"/>
            </a:avLst>
          </a:prstGeom>
          <a:solidFill>
            <a:srgbClr val="4398F9"/>
          </a:solidFill>
          <a:ln w="1270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9704" y="157276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*score-program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· Macro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35424" y="2377440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35424" y="23774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program-score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score-macro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611112" y="1444752"/>
            <a:ext cx="2194560" cy="2084832"/>
          </a:xfrm>
          <a:prstGeom prst="roundRect">
            <a:avLst>
              <a:gd name="adj" fmla="val 4386"/>
            </a:avLst>
          </a:prstGeom>
          <a:solidFill>
            <a:srgbClr val="F4F8FF"/>
          </a:solidFill>
          <a:ln w="12700">
            <a:solidFill>
              <a:srgbClr val="4398F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656832" y="1572768"/>
            <a:ext cx="2103120" cy="621792"/>
          </a:xfrm>
          <a:prstGeom prst="roundRect">
            <a:avLst>
              <a:gd name="adj" fmla="val 10294"/>
            </a:avLst>
          </a:prstGeom>
          <a:solidFill>
            <a:srgbClr val="0766D1"/>
          </a:solidFill>
          <a:ln w="12700">
            <a:solidFill>
              <a:srgbClr val="0766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56832" y="157276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*score-cas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02552" y="2377440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02552" y="23774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cas-program-score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(inline or table)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55448" y="3182112"/>
            <a:ext cx="4206240" cy="274320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3191256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76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sz="9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skill (SKILL.md decision tree)    </a:t>
            </a:r>
            <a:r>
              <a:rPr lang="en-US" sz="950" b="1" dirty="0">
                <a:solidFill>
                  <a:srgbClr val="C4D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□</a:t>
            </a:r>
            <a:r>
              <a:rPr lang="en-US" sz="9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MCP tools called by the skill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55448" y="3511296"/>
            <a:ext cx="8833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skills (shared across all scoring paths):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55448" y="3767328"/>
            <a:ext cx="2139696" cy="347472"/>
          </a:xfrm>
          <a:prstGeom prst="roundRect">
            <a:avLst>
              <a:gd name="adj" fmla="val 13158"/>
            </a:avLst>
          </a:prstGeom>
          <a:solidFill>
            <a:srgbClr val="F4F8FF"/>
          </a:solidFill>
          <a:ln w="508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28600" y="3785616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66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*request-routing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28600" y="3950208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classifier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386584" y="3767328"/>
            <a:ext cx="2139696" cy="347472"/>
          </a:xfrm>
          <a:prstGeom prst="roundRect">
            <a:avLst>
              <a:gd name="adj" fmla="val 13158"/>
            </a:avLst>
          </a:prstGeom>
          <a:solidFill>
            <a:srgbClr val="F4F8FF"/>
          </a:solidFill>
          <a:ln w="508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459736" y="3785616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66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*read-strategy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459736" y="3950208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read-table vs sas-query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617720" y="3767328"/>
            <a:ext cx="2139696" cy="347472"/>
          </a:xfrm>
          <a:prstGeom prst="roundRect">
            <a:avLst>
              <a:gd name="adj" fmla="val 13158"/>
            </a:avLst>
          </a:prstGeom>
          <a:solidFill>
            <a:srgbClr val="F4F8FF"/>
          </a:solidFill>
          <a:ln w="508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90872" y="3785616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66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*find-resources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90872" y="3950208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any resource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848856" y="3767328"/>
            <a:ext cx="2139696" cy="347472"/>
          </a:xfrm>
          <a:prstGeom prst="roundRect">
            <a:avLst>
              <a:gd name="adj" fmla="val 13158"/>
            </a:avLst>
          </a:prstGeom>
          <a:solidFill>
            <a:srgbClr val="F4F8FF"/>
          </a:solidFill>
          <a:ln w="508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922008" y="3785616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66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*find-library-server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922008" y="3950208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vs SAS server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55448" y="4187952"/>
            <a:ext cx="2139696" cy="347472"/>
          </a:xfrm>
          <a:prstGeom prst="roundRect">
            <a:avLst>
              <a:gd name="adj" fmla="val 13158"/>
            </a:avLst>
          </a:prstGeom>
          <a:solidFill>
            <a:srgbClr val="F4F8FF"/>
          </a:solidFill>
          <a:ln w="508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28600" y="420624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66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*list-library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28600" y="437083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libraries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386584" y="4187952"/>
            <a:ext cx="2139696" cy="347472"/>
          </a:xfrm>
          <a:prstGeom prst="roundRect">
            <a:avLst>
              <a:gd name="adj" fmla="val 13158"/>
            </a:avLst>
          </a:prstGeom>
          <a:solidFill>
            <a:srgbClr val="F4F8FF"/>
          </a:solidFill>
          <a:ln w="508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459736" y="420624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66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*list-tables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459736" y="437083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tables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617720" y="4187952"/>
            <a:ext cx="2139696" cy="347472"/>
          </a:xfrm>
          <a:prstGeom prst="roundRect">
            <a:avLst>
              <a:gd name="adj" fmla="val 13158"/>
            </a:avLst>
          </a:prstGeom>
          <a:solidFill>
            <a:srgbClr val="F4F8FF"/>
          </a:solidFill>
          <a:ln w="508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690872" y="420624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66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*list-mas-job-jobdef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690872" y="437083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models/jobs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848856" y="4187952"/>
            <a:ext cx="2139696" cy="347472"/>
          </a:xfrm>
          <a:prstGeom prst="roundRect">
            <a:avLst>
              <a:gd name="adj" fmla="val 13158"/>
            </a:avLst>
          </a:prstGeom>
          <a:solidFill>
            <a:srgbClr val="F4F8FF"/>
          </a:solidFill>
          <a:ln w="508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922008" y="420624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66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*detail-strategy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922008" y="4370832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/ metadata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Example  —  MAS Model Scoring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502920" cy="502920"/>
          </a:xfrm>
          <a:prstGeom prst="ellipse">
            <a:avLst/>
          </a:prstGeom>
          <a:solidFill>
            <a:srgbClr val="032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6217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640080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27248" y="658368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"Score customer with churn model (age=45, income=60000)"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1208" y="1161288"/>
            <a:ext cx="0" cy="18288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380744"/>
            <a:ext cx="502920" cy="502920"/>
          </a:xfrm>
          <a:prstGeom prst="ellipse">
            <a:avLst/>
          </a:prstGeom>
          <a:solidFill>
            <a:srgbClr val="439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380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344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Layer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1362456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27248" y="1380744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score-strategy routes to score-mas-scr via routing table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1208" y="1883664"/>
            <a:ext cx="0" cy="18288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103120"/>
            <a:ext cx="502920" cy="502920"/>
          </a:xfrm>
          <a:prstGeom prst="ellipse">
            <a:avLst/>
          </a:prstGeom>
          <a:solidFill>
            <a:srgbClr val="439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0665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17520" y="2084832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127248" y="2103120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find-mas confirms churnRisk model exists in SAS Viya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1208" y="2606040"/>
            <a:ext cx="0" cy="18288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825496"/>
            <a:ext cx="502920" cy="502920"/>
          </a:xfrm>
          <a:prstGeom prst="ellipse">
            <a:avLst/>
          </a:prstGeom>
          <a:solidFill>
            <a:srgbClr val="439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2825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2807208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127248" y="2825496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mas-score invoked with model name + scenario params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1208" y="3328416"/>
            <a:ext cx="0" cy="18288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3547872"/>
            <a:ext cx="502920" cy="502920"/>
          </a:xfrm>
          <a:prstGeom prst="ellipse">
            <a:avLst/>
          </a:prstGeom>
          <a:solidFill>
            <a:srgbClr val="439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3547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" y="35112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/ Restaf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17520" y="3529584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127248" y="3547872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_masScoring() → masSetup() → masDescribe() → masRun()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1208" y="4050792"/>
            <a:ext cx="0" cy="18288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4270248"/>
            <a:ext cx="502920" cy="502920"/>
          </a:xfrm>
          <a:prstGeom prst="ellipse">
            <a:avLst/>
          </a:prstGeom>
          <a:solidFill>
            <a:srgbClr val="0766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270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4400" y="4233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17520" y="4251960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127248" y="4270248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prediction: "churn", probability: 0.78, age: 45 }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63c7f06-7cb3-4753-bb68-887d8c87c3f7}" enabled="1" method="Privileged" siteId="{b1c14d5c-3625-45b3-a430-9552373a0c2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641</Words>
  <Application>Microsoft Office PowerPoint</Application>
  <PresentationFormat>On-screen Show (16:9)</PresentationFormat>
  <Paragraphs>182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SAS Score MCP Server — Workflow</dc:title>
  <dc:subject>PptxGenJS Presentation</dc:subject>
  <dc:creator>PptxGenJS</dc:creator>
  <cp:lastModifiedBy>Deva Kumar</cp:lastModifiedBy>
  <cp:revision>2</cp:revision>
  <dcterms:created xsi:type="dcterms:W3CDTF">2026-06-12T16:09:53Z</dcterms:created>
  <dcterms:modified xsi:type="dcterms:W3CDTF">2026-06-12T19:40:00Z</dcterms:modified>
</cp:coreProperties>
</file>