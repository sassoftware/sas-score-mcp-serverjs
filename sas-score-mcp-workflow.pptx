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320040"/>
            <a:ext cx="1371600" cy="292608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3200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 ·  NODE.JS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412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 Score MCP Server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365760" y="224028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SAS Viya Integration Workflow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65760" y="2834640"/>
            <a:ext cx="3200400" cy="36576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2999232"/>
            <a:ext cx="779069" cy="274320"/>
          </a:xfrm>
          <a:prstGeom prst="rect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2999232"/>
            <a:ext cx="7790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281989" y="2999232"/>
            <a:ext cx="1452067" cy="274320"/>
          </a:xfrm>
          <a:prstGeom prst="rect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81989" y="2999232"/>
            <a:ext cx="14520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871216" y="2999232"/>
            <a:ext cx="947318" cy="274320"/>
          </a:xfrm>
          <a:prstGeom prst="rect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71216" y="2999232"/>
            <a:ext cx="9473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 Viya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955694" y="2999232"/>
            <a:ext cx="2125066" cy="274320"/>
          </a:xfrm>
          <a:prstGeom prst="rect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955694" y="2999232"/>
            <a:ext cx="21250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5760" y="43891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A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· Verify · Score · Describe · Read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Architecture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65760" y="621792"/>
            <a:ext cx="8412480" cy="603504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30352" y="6675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926080" y="667512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 ·  GitHub Copilot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434840" y="1225296"/>
            <a:ext cx="274320" cy="64008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289304"/>
            <a:ext cx="8412480" cy="603504"/>
          </a:xfrm>
          <a:prstGeom prst="rect">
            <a:avLst/>
          </a:prstGeom>
          <a:solidFill>
            <a:srgbClr val="0074BE"/>
          </a:solidFill>
          <a:ln w="12700">
            <a:solidFill>
              <a:srgbClr val="0074B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30352" y="13350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Layer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926080" y="133502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Routing  ·  Decision Trees  ·  Strategies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434840" y="1892808"/>
            <a:ext cx="274320" cy="64008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1956816"/>
            <a:ext cx="8412480" cy="603504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30352" y="200253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 (Node.js)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926080" y="2002536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Registration  ·  Two-Tier Descriptions  ·  Session Cache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434840" y="2560320"/>
            <a:ext cx="274320" cy="64008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2624328"/>
            <a:ext cx="8412480" cy="603504"/>
          </a:xfrm>
          <a:prstGeom prst="rect">
            <a:avLst/>
          </a:prstGeom>
          <a:solidFill>
            <a:srgbClr val="5A6A7A"/>
          </a:solidFill>
          <a:ln w="12700">
            <a:solidFill>
              <a:srgbClr val="5A6A7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30352" y="26700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926080" y="2670048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(Express + OAuth)   |   Stdio (CLI / Local)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434840" y="3227832"/>
            <a:ext cx="274320" cy="64008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3291840"/>
            <a:ext cx="8412480" cy="603504"/>
          </a:xfrm>
          <a:prstGeom prst="rect">
            <a:avLst/>
          </a:prstGeom>
          <a:solidFill>
            <a:srgbClr val="3A5070"/>
          </a:solidFill>
          <a:ln w="12700">
            <a:solidFill>
              <a:srgbClr val="3A507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30352" y="3337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Execution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926080" y="3337560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Tools: mas-score · scr-score · job-score · jobdef-score · program-score · cas-program-score · read-table …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434840" y="3895344"/>
            <a:ext cx="274320" cy="64008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3959352"/>
            <a:ext cx="8412480" cy="603504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30352" y="4005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 Viya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926080" y="4005072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Model Scoring  ·  CAS Analytics  ·  Compute Jobs  ·  SCR Containers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Catalog  (28 Tools)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621792"/>
            <a:ext cx="20116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621792"/>
            <a:ext cx="2011680" cy="256032"/>
          </a:xfrm>
          <a:prstGeom prst="rect">
            <a:avLst/>
          </a:prstGeom>
          <a:solidFill>
            <a:srgbClr val="0074BE"/>
          </a:solidFill>
          <a:ln w="12700">
            <a:solidFill>
              <a:srgbClr val="0074B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9768" y="621792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Models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29768" y="914400"/>
            <a:ext cx="182880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list-mas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find-mas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mas-describe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mas-score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386584" y="621792"/>
            <a:ext cx="20116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386584" y="621792"/>
            <a:ext cx="2011680" cy="256032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96312" y="621792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 Models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496312" y="914400"/>
            <a:ext cx="182880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list-scr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find-scr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scr-describe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scr-score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453128" y="621792"/>
            <a:ext cx="20116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453128" y="621792"/>
            <a:ext cx="2011680" cy="256032"/>
          </a:xfrm>
          <a:prstGeom prst="rect">
            <a:avLst/>
          </a:prstGeom>
          <a:solidFill>
            <a:srgbClr val="3A5070"/>
          </a:solidFill>
          <a:ln w="12700">
            <a:solidFill>
              <a:srgbClr val="3A507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62856" y="621792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Models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62856" y="914400"/>
            <a:ext cx="182880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list-jobs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find-job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job-describe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job-score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19672" y="621792"/>
            <a:ext cx="20116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19672" y="621792"/>
            <a:ext cx="2011680" cy="256032"/>
          </a:xfrm>
          <a:prstGeom prst="rect">
            <a:avLst/>
          </a:prstGeom>
          <a:solidFill>
            <a:srgbClr val="5A6A7A"/>
          </a:solidFill>
          <a:ln w="12700">
            <a:solidFill>
              <a:srgbClr val="5A6A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29400" y="621792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JobDef Models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629400" y="914400"/>
            <a:ext cx="182880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list-jobdefs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find-jobdef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jobdef-describe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jobdef-score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0040" y="2011680"/>
            <a:ext cx="26517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0040" y="2011680"/>
            <a:ext cx="2651760" cy="256032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9768" y="2011680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Libraries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29768" y="2304288"/>
            <a:ext cx="2468880" cy="9784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list-libraries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find-library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0" y="2011680"/>
            <a:ext cx="27889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200400" y="2011680"/>
            <a:ext cx="2788920" cy="25603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10128" y="2011680"/>
            <a:ext cx="2679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310128" y="2304288"/>
            <a:ext cx="2606040" cy="9784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list-tables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find-table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table-describe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read-table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sas-query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80760" y="2011680"/>
            <a:ext cx="26517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080760" y="2011680"/>
            <a:ext cx="2651760" cy="256032"/>
          </a:xfrm>
          <a:prstGeom prst="rect">
            <a:avLst/>
          </a:prstGeom>
          <a:solidFill>
            <a:srgbClr val="00756B"/>
          </a:solidFill>
          <a:ln w="12700">
            <a:solidFill>
              <a:srgbClr val="00756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90488" y="2011680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Models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190488" y="2304288"/>
            <a:ext cx="2468880" cy="9784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program-score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cas-program-score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score-macro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20040" y="3493008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tools prefixed sas-score-  (e.g. sas-score-mas-score)  ·  Job, JobDef, Program, and CAS Program are all model types  ·  Standalone and agent modes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Architecture  ·  Decision Trees as Canonical Spec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47472" y="685800"/>
            <a:ext cx="2286000" cy="86868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74066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Decision-Tree YAMLs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14984"/>
            <a:ext cx="21031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resource trees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(mas · scr · job · jobdef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· library · program)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679192" y="1083564"/>
            <a:ext cx="411480" cy="64008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026664" y="1001268"/>
            <a:ext cx="182880" cy="237744"/>
          </a:xfrm>
          <a:prstGeom prst="triangle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29000" y="685800"/>
            <a:ext cx="2286000" cy="868680"/>
          </a:xfrm>
          <a:prstGeom prst="rect">
            <a:avLst/>
          </a:prstGeom>
          <a:solidFill>
            <a:srgbClr val="0074BE"/>
          </a:solidFill>
          <a:ln w="12700">
            <a:solidFill>
              <a:srgbClr val="0074B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538728" y="74066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gen-routing.js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538728" y="1014984"/>
            <a:ext cx="21031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YAMLs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routing tables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primitive usage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760720" y="1083564"/>
            <a:ext cx="411480" cy="64008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08192" y="1001268"/>
            <a:ext cx="182880" cy="237744"/>
          </a:xfrm>
          <a:prstGeom prst="triangle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10528" y="685800"/>
            <a:ext cx="2286000" cy="868680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620256" y="74066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SKILL.md  (generated)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620256" y="1014984"/>
            <a:ext cx="21031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table · Resolve rules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table · Score table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Primitives reference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743200" y="164592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run gen:routing  ·  npm run check:routing  (CI validation)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47472" y="214884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Two-Tier Tool Descriptions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47472" y="2496312"/>
            <a:ext cx="4160520" cy="155448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47472" y="2496312"/>
            <a:ext cx="4160520" cy="274320"/>
          </a:xfrm>
          <a:prstGeom prst="rect">
            <a:avLst/>
          </a:prstGeom>
          <a:solidFill>
            <a:srgbClr val="0074BE"/>
          </a:solidFill>
          <a:ln w="12700">
            <a:solidFill>
              <a:srgbClr val="0074B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249631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Mode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27832" y="2523744"/>
            <a:ext cx="1188720" cy="219456"/>
          </a:xfrm>
          <a:prstGeom prst="rect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27832" y="2523744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 cli.js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84632" y="2843784"/>
            <a:ext cx="393192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verbose descriptions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/ DON'T USE rules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examples &amp; negative examples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Self-contained — no skills needed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36592" y="2496312"/>
            <a:ext cx="4160520" cy="1554480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36592" y="2496312"/>
            <a:ext cx="4160520" cy="274320"/>
          </a:xfrm>
          <a:prstGeom prst="rect">
            <a:avLst/>
          </a:prstGeom>
          <a:solidFill>
            <a:srgbClr val="007A73"/>
          </a:solidFill>
          <a:ln w="12700">
            <a:solidFill>
              <a:srgbClr val="007A7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46320" y="249631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Mode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616952" y="2523744"/>
            <a:ext cx="1188720" cy="219456"/>
          </a:xfrm>
          <a:prstGeom prst="rect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616952" y="2523744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 cli.js --agent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873752" y="2843784"/>
            <a:ext cx="393192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 descriptions (~10 lines)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 list + return value only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+ Decision Trees handle routing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tokens, cleaner context window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 Example  ·  Model Scoring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65760" y="621792"/>
            <a:ext cx="8412480" cy="530352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704088"/>
            <a:ext cx="365760" cy="365760"/>
          </a:xfrm>
          <a:prstGeom prst="oval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704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32688" y="676656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Request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697480" y="676656"/>
            <a:ext cx="6355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"Score customer with churn model  (age=45, income=60000)"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297680" y="1152144"/>
            <a:ext cx="274320" cy="54864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207008"/>
            <a:ext cx="8412480" cy="530352"/>
          </a:xfrm>
          <a:prstGeom prst="rect">
            <a:avLst/>
          </a:prstGeom>
          <a:solidFill>
            <a:srgbClr val="0074BE"/>
          </a:solidFill>
          <a:ln w="12700">
            <a:solidFill>
              <a:srgbClr val="0074B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1289304"/>
            <a:ext cx="365760" cy="365760"/>
          </a:xfrm>
          <a:prstGeom prst="oval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289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32688" y="1261872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Layer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697480" y="1261872"/>
            <a:ext cx="6355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score-strategy skill routes to mas-score via decision tree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297680" y="1737360"/>
            <a:ext cx="274320" cy="54864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1792224"/>
            <a:ext cx="8412480" cy="53035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1874520"/>
            <a:ext cx="365760" cy="365760"/>
          </a:xfrm>
          <a:prstGeom prst="oval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32688" y="184708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697480" y="1847088"/>
            <a:ext cx="6355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find-mas confirms churnRisk model exists in SAS Viya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297680" y="2322576"/>
            <a:ext cx="274320" cy="54864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2377440"/>
            <a:ext cx="8412480" cy="530352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2459736"/>
            <a:ext cx="365760" cy="365760"/>
          </a:xfrm>
          <a:prstGeom prst="oval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2459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32688" y="2432304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697480" y="2432304"/>
            <a:ext cx="6355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mas-score tool invoked with model name + scenario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297680" y="2907792"/>
            <a:ext cx="274320" cy="54864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962656"/>
            <a:ext cx="8412480" cy="530352"/>
          </a:xfrm>
          <a:prstGeom prst="rect">
            <a:avLst/>
          </a:prstGeom>
          <a:solidFill>
            <a:srgbClr val="007A73"/>
          </a:solidFill>
          <a:ln w="12700">
            <a:solidFill>
              <a:srgbClr val="007A7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57200" y="3044952"/>
            <a:ext cx="365760" cy="365760"/>
          </a:xfrm>
          <a:prstGeom prst="oval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3044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32688" y="301752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Helper / Restaf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697480" y="3017520"/>
            <a:ext cx="6355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_masScoring() → masSetup() → masDescribe() → masRun()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297680" y="3493008"/>
            <a:ext cx="274320" cy="54864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5760" y="3547872"/>
            <a:ext cx="8412480" cy="530352"/>
          </a:xfrm>
          <a:prstGeom prst="rect">
            <a:avLst/>
          </a:prstGeom>
          <a:solidFill>
            <a:srgbClr val="0D4F3A"/>
          </a:solidFill>
          <a:ln w="12700">
            <a:solidFill>
              <a:srgbClr val="0D4F3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57200" y="3630168"/>
            <a:ext cx="365760" cy="365760"/>
          </a:xfrm>
          <a:prstGeom prst="oval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" y="3630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32688" y="3602736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697480" y="3602736"/>
            <a:ext cx="6355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prediction:"churn", probability:0.78, age:45, income:60000 }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Flows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621792"/>
            <a:ext cx="4160520" cy="960120"/>
          </a:xfrm>
          <a:prstGeom prst="rect">
            <a:avLst/>
          </a:prstGeom>
          <a:solidFill>
            <a:srgbClr val="0074BE"/>
          </a:solidFill>
          <a:ln w="12700">
            <a:solidFill>
              <a:srgbClr val="0074B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29768" y="749808"/>
            <a:ext cx="1188720" cy="27432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9768" y="74980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oauth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737360" y="777240"/>
            <a:ext cx="822960" cy="219456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37360" y="77724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29768" y="1097280"/>
            <a:ext cx="395935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browser-based OAuth 2.0 with PKCE. Most secure.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53712" y="621792"/>
            <a:ext cx="4160520" cy="960120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749808"/>
            <a:ext cx="1188720" cy="27432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74980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oauthclient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63440" y="1097280"/>
            <a:ext cx="395935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where the client app manages token exchange.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0040" y="1691640"/>
            <a:ext cx="4160520" cy="960120"/>
          </a:xfrm>
          <a:prstGeom prst="rect">
            <a:avLst/>
          </a:prstGeom>
          <a:solidFill>
            <a:srgbClr val="3A5070"/>
          </a:solidFill>
          <a:ln w="12700">
            <a:solidFill>
              <a:srgbClr val="3A507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29768" y="1819656"/>
            <a:ext cx="1188720" cy="27432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9768" y="181965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bearer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737360" y="1847088"/>
            <a:ext cx="822960" cy="219456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737360" y="1847088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29768" y="2167128"/>
            <a:ext cx="395935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a valid SAS Viya access token directly.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53712" y="1691640"/>
            <a:ext cx="4160520" cy="960120"/>
          </a:xfrm>
          <a:prstGeom prst="rect">
            <a:avLst/>
          </a:prstGeom>
          <a:solidFill>
            <a:srgbClr val="5A6A7A"/>
          </a:solidFill>
          <a:ln w="12700">
            <a:solidFill>
              <a:srgbClr val="5A6A7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63440" y="1819656"/>
            <a:ext cx="1188720" cy="27432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63440" y="181965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token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663440" y="2167128"/>
            <a:ext cx="395935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access token from a local file path.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" y="2761488"/>
            <a:ext cx="4160520" cy="960120"/>
          </a:xfrm>
          <a:prstGeom prst="rect">
            <a:avLst/>
          </a:prstGeom>
          <a:solidFill>
            <a:srgbClr val="6B7A8D"/>
          </a:solidFill>
          <a:ln w="12700">
            <a:solidFill>
              <a:srgbClr val="6B7A8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29768" y="2889504"/>
            <a:ext cx="1188720" cy="27432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29768" y="288950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sascli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29768" y="3236976"/>
            <a:ext cx="395935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authentication from an existing sas-viya-cli profile.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53712" y="2761488"/>
            <a:ext cx="4160520" cy="960120"/>
          </a:xfrm>
          <a:prstGeom prst="rect">
            <a:avLst/>
          </a:prstGeom>
          <a:solidFill>
            <a:srgbClr val="8A3030"/>
          </a:solidFill>
          <a:ln w="12700">
            <a:solidFill>
              <a:srgbClr val="8A303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663440" y="2889504"/>
            <a:ext cx="1188720" cy="27432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63440" y="288950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971032" y="2916936"/>
            <a:ext cx="822960" cy="219456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71032" y="2916936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4663440" y="3236976"/>
            <a:ext cx="395935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credential auth. Use OAuth-based flows for security.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Options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658368"/>
            <a:ext cx="2697480" cy="3977640"/>
          </a:xfrm>
          <a:prstGeom prst="rect">
            <a:avLst/>
          </a:prstGeom>
          <a:solidFill>
            <a:srgbClr val="FFFFFF">
              <a:alpha val="94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658368"/>
            <a:ext cx="2697480" cy="292608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9768" y="65836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CLI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9768" y="1024128"/>
            <a:ext cx="2468880" cy="256032"/>
          </a:xfrm>
          <a:prstGeom prst="rect">
            <a:avLst/>
          </a:prstGeom>
          <a:solidFill>
            <a:srgbClr val="00A89D">
              <a:alpha val="30000"/>
            </a:srgbClr>
          </a:solidFill>
          <a:ln w="12700">
            <a:solidFill>
              <a:srgbClr val="00A89D">
                <a:alpha val="6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" y="10241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Stdio Transport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29768" y="1353312"/>
            <a:ext cx="249631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0F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npx @sassoftware/sas-score-mcp-serverjs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29768" y="1956816"/>
            <a:ext cx="2496312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global install needed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Desktop &amp; VS Code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Single-user development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for local testing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182112" y="658368"/>
            <a:ext cx="2697480" cy="3977640"/>
          </a:xfrm>
          <a:prstGeom prst="rect">
            <a:avLst/>
          </a:prstGeom>
          <a:solidFill>
            <a:srgbClr val="FFFFFF">
              <a:alpha val="94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182112" y="658368"/>
            <a:ext cx="2697480" cy="292608"/>
          </a:xfrm>
          <a:prstGeom prst="rect">
            <a:avLst/>
          </a:prstGeom>
          <a:solidFill>
            <a:srgbClr val="0074BE"/>
          </a:solidFill>
          <a:ln w="12700">
            <a:solidFill>
              <a:srgbClr val="0074B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91840" y="65836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Container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91840" y="1024128"/>
            <a:ext cx="2468880" cy="256032"/>
          </a:xfrm>
          <a:prstGeom prst="rect">
            <a:avLst/>
          </a:prstGeom>
          <a:solidFill>
            <a:srgbClr val="0074BE">
              <a:alpha val="30000"/>
            </a:srgbClr>
          </a:solidFill>
          <a:ln w="12700">
            <a:solidFill>
              <a:srgbClr val="0074BE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91840" y="10241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Transport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91840" y="1353312"/>
            <a:ext cx="249631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ghcr.io/sassoftware/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sas-score-mcp-serverjs:latest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291840" y="1956816"/>
            <a:ext cx="2496312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from GitHub Container Registry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server on port 8080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Multi-user concurrent support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anywhere Docker runs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044184" y="658368"/>
            <a:ext cx="2697480" cy="3977640"/>
          </a:xfrm>
          <a:prstGeom prst="rect">
            <a:avLst/>
          </a:prstGeom>
          <a:solidFill>
            <a:srgbClr val="FFFFFF">
              <a:alpha val="94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044184" y="658368"/>
            <a:ext cx="2697480" cy="29260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53912" y="65836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 (Azure / AWS)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53912" y="1024128"/>
            <a:ext cx="2468880" cy="256032"/>
          </a:xfrm>
          <a:prstGeom prst="rect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>
                <a:alpha val="6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53912" y="10241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+ OAuth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153912" y="1353312"/>
            <a:ext cx="249631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Container App · ECS · Kubernetes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153912" y="1956816"/>
            <a:ext cx="2496312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container service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OAuth PKCE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 multi-user architecture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SAS Viya integration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SAS Score MCP Server</dc:title>
  <dc:subject>PptxGenJS Presentation</dc:subject>
  <dc:creator>SAS Institute</dc:creator>
  <cp:lastModifiedBy>SAS Institute</cp:lastModifiedBy>
  <cp:revision>1</cp:revision>
  <dcterms:created xsi:type="dcterms:W3CDTF">2026-05-27T15:15:27Z</dcterms:created>
  <dcterms:modified xsi:type="dcterms:W3CDTF">2026-05-27T15:15:27Z</dcterms:modified>
</cp:coreProperties>
</file>