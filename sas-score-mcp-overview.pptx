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766D1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Score MCP Server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11480" y="219456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Architecture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97180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A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· Verify · Score — five skills, one router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C4DEFD"/>
          </a:solidFill>
          <a:ln w="9525">
            <a:solidFill>
              <a:srgbClr val="4398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804672"/>
            <a:ext cx="457200" cy="457200"/>
          </a:xfrm>
          <a:prstGeom prst="ellipse">
            <a:avLst/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822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Users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users who want to use natural language (“chat”) to execute prebuilt SAS code and models.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Quick Reference for details.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685800"/>
            <a:ext cx="3840480" cy="3474720"/>
          </a:xfrm>
          <a:prstGeom prst="roundRect">
            <a:avLst>
              <a:gd name="adj" fmla="val 2632"/>
            </a:avLst>
          </a:prstGeom>
          <a:solidFill>
            <a:srgbClr val="032954"/>
          </a:solidFill>
          <a:ln w="9525">
            <a:solidFill>
              <a:srgbClr val="0766D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804672"/>
            <a:ext cx="457200" cy="457200"/>
          </a:xfrm>
          <a:prstGeom prst="ellipse">
            <a:avLst/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804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23560" y="82296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Developers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20640" y="1371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4D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developers who want to extend the capabilities of the server with their own tools.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398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Developer Guide for details.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Skills?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structured decision-tree documents (SKILL.md) that guide an AI agent through a scoring workflow — which tool to call, in what order, and how to handle errors.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5544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865376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score-strategy reads the request and delegates to exactly one specialist skill.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5488" y="15544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865376"/>
            <a:ext cx="24323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score-strategy reads the request and delegates to exactly one specialist skill.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5544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10128" y="1865376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specialist skill knows the verify → score pattern for its model type.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463040"/>
            <a:ext cx="2651760" cy="1371600"/>
          </a:xfrm>
          <a:prstGeom prst="roundRect">
            <a:avLst>
              <a:gd name="adj" fmla="val 5333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44768" y="15544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144768" y="1865376"/>
            <a:ext cx="24323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are the leaf operations — network calls to SAS Viya.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017520" y="1828800"/>
            <a:ext cx="457200" cy="548640"/>
          </a:xfrm>
          <a:prstGeom prst="rightArrow">
            <a:avLst/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1828800"/>
            <a:ext cx="457200" cy="548640"/>
          </a:xfrm>
          <a:prstGeom prst="rightArrow">
            <a:avLst/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089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remove ambiguity from the AI — the agent follows the decision tree, not its training data.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Skills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8595360" cy="768096"/>
          </a:xfrm>
          <a:prstGeom prst="roundRect">
            <a:avLst>
              <a:gd name="adj" fmla="val 8333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768096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4398F9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768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63040" y="7315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score-strategy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731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point. Classifies model type from the request and delegates to the correct specialist skill.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8595360" cy="768096"/>
          </a:xfrm>
          <a:prstGeom prst="roundRect">
            <a:avLst>
              <a:gd name="adj" fmla="val 8333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" y="1609344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32954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16093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63040" y="15727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score-mas-scr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0" y="157276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MAS (default) and SCR models.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Score pattern with verification.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8595360" cy="768096"/>
          </a:xfrm>
          <a:prstGeom prst="roundRect">
            <a:avLst>
              <a:gd name="adj" fmla="val 8333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450592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32954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450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6304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score-job-jobdef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0" y="24140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Job and JobDef model types.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→ Score pattern with verification.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63824"/>
            <a:ext cx="8595360" cy="768096"/>
          </a:xfrm>
          <a:prstGeom prst="roundRect">
            <a:avLst>
              <a:gd name="adj" fmla="val 8333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3291840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032954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291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2552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score-program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325526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SAS Program (.sas) and Macro.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execution — no verify step.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8595360" cy="768096"/>
          </a:xfrm>
          <a:prstGeom prst="roundRect">
            <a:avLst>
              <a:gd name="adj" fmla="val 8333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4133088"/>
            <a:ext cx="1005840" cy="274320"/>
          </a:xfrm>
          <a:prstGeom prst="roundRect">
            <a:avLst>
              <a:gd name="adj" fmla="val 13333"/>
            </a:avLst>
          </a:prstGeom>
          <a:solidFill>
            <a:srgbClr val="4398F9"/>
          </a:solidFill>
          <a:ln/>
        </p:spPr>
      </p:sp>
      <p:sp>
        <p:nvSpPr>
          <p:cNvPr id="27" name="Text 25"/>
          <p:cNvSpPr/>
          <p:nvPr/>
        </p:nvSpPr>
        <p:spPr>
          <a:xfrm>
            <a:off x="384048" y="4133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63040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score-cas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114800" y="40965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CAS Program (.casl) and CAS Model tables.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 forms: inline src or casmodel table.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score-strategy — Routing Rules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566928"/>
            <a:ext cx="3017520" cy="347472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585216"/>
            <a:ext cx="2871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Suffix / Signal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29000" y="566928"/>
            <a:ext cx="2011680" cy="347472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8" name="Text 6"/>
          <p:cNvSpPr/>
          <p:nvPr/>
        </p:nvSpPr>
        <p:spPr>
          <a:xfrm>
            <a:off x="3502152" y="585216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32120" y="566928"/>
            <a:ext cx="3291840" cy="347472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10" name="Text 8"/>
          <p:cNvSpPr/>
          <p:nvPr/>
        </p:nvSpPr>
        <p:spPr>
          <a:xfrm>
            <a:off x="5605272" y="58521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960120"/>
            <a:ext cx="8503920" cy="4572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" y="96012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.mas  (or no suffix)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96012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05272" y="96012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score-mas-scr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453896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" y="145389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.scr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02152" y="145389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05272" y="145389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score-mas-scr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1947672"/>
            <a:ext cx="8503920" cy="4572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0" name="Text 18"/>
          <p:cNvSpPr/>
          <p:nvPr/>
        </p:nvSpPr>
        <p:spPr>
          <a:xfrm>
            <a:off x="393192" y="194767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02152" y="194767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05272" y="194767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score-job-jobdef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2441448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93192" y="2441448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.jobdef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02152" y="2441448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JobDef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05272" y="2441448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score-job-jobdef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2935224"/>
            <a:ext cx="8503920" cy="4572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2935224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.sas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02152" y="2935224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Program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605272" y="2935224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score-program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3429000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" y="3429000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macro name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02152" y="342900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605272" y="3429000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score-program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0040" y="3922776"/>
            <a:ext cx="8503920" cy="457200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6" name="Text 34"/>
          <p:cNvSpPr/>
          <p:nvPr/>
        </p:nvSpPr>
        <p:spPr>
          <a:xfrm>
            <a:off x="393192" y="3922776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.casl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502152" y="3922776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Program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05272" y="3922776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score-cas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040" y="4416552"/>
            <a:ext cx="8503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93192" y="4416552"/>
            <a:ext cx="2944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lib.table  +  "cas model"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02152" y="441655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Model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05272" y="4416552"/>
            <a:ext cx="3145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score-cas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score-cas  —  Skill Deep Dive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can take two forms — both handled by one tool: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1 — Inline Src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provides CASL code directly.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83080"/>
            <a:ext cx="3749040" cy="777240"/>
          </a:xfrm>
          <a:prstGeom prst="rect">
            <a:avLst/>
          </a:prstGeom>
          <a:solidFill>
            <a:srgbClr val="EBF3FF"/>
          </a:solidFill>
          <a:ln w="3810">
            <a:solidFill>
              <a:srgbClr val="439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810512"/>
            <a:ext cx="36210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src: "action echo;", scenario: {...}, output, limit 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023360" cy="1828800"/>
          </a:xfrm>
          <a:prstGeom prst="roundRect">
            <a:avLst>
              <a:gd name="adj" fmla="val 5000"/>
            </a:avLst>
          </a:prstGeom>
          <a:solidFill>
            <a:srgbClr val="C4DEFD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430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2 — CAS Model Table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model table in CAS (lib.table + optional name).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92040" y="1783080"/>
            <a:ext cx="3749040" cy="777240"/>
          </a:xfrm>
          <a:prstGeom prst="rect">
            <a:avLst/>
          </a:prstGeom>
          <a:solidFill>
            <a:srgbClr val="EBF3FF"/>
          </a:solidFill>
          <a:ln w="3810">
            <a:solidFill>
              <a:srgbClr val="0766D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56048" y="1810512"/>
            <a:ext cx="362102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casmodel: "mylib.abc", name: "opt", scenario: {...} 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0" y="2999232"/>
            <a:ext cx="640080" cy="365760"/>
          </a:xfrm>
          <a:prstGeom prst="downArrow">
            <a:avLst/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999232"/>
            <a:ext cx="640080" cy="365760"/>
          </a:xfrm>
          <a:prstGeom prst="downArrow">
            <a:avLst/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60320" y="3429000"/>
            <a:ext cx="4023360" cy="594360"/>
          </a:xfrm>
          <a:prstGeom prst="roundRect">
            <a:avLst>
              <a:gd name="adj" fmla="val 12308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342900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sas-score-cas-program-score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60320" y="4096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verify step — executes directly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*read-strategy  —  Reading Tables from SAS Viya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6217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whether to use raw row reads or SQL aggregation, and how to parse row-count requests.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42416"/>
            <a:ext cx="8503920" cy="475488"/>
          </a:xfrm>
          <a:prstGeom prst="roundRect">
            <a:avLst>
              <a:gd name="adj" fmla="val 13462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424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Verify table exists first  →  sas-score-find-table  (do not check library separately)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664208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request need aggregation (COUNT/SUM/AVG/GROUP BY) or a JOIN?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194560"/>
            <a:ext cx="3840480" cy="1261872"/>
          </a:xfrm>
          <a:prstGeom prst="roundRect">
            <a:avLst>
              <a:gd name="adj" fmla="val 6522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 →  sas-score-sas-query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COUNT, SUM, AVG, MIN, MAX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/ JOIN / computed columns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83480" y="2194560"/>
            <a:ext cx="3840480" cy="1261872"/>
          </a:xfrm>
          <a:prstGeom prst="roundRect">
            <a:avLst>
              <a:gd name="adj" fmla="val 6522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24028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 →  sas-score-read-table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578608"/>
            <a:ext cx="35661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rows, browsing, filtered reads
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clause alone  →  use where= param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11680" y="2029968"/>
            <a:ext cx="640080" cy="164592"/>
          </a:xfrm>
          <a:prstGeom prst="downArrow">
            <a:avLst/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2029968"/>
            <a:ext cx="640080" cy="164592"/>
          </a:xfrm>
          <a:prstGeom prst="downArrow">
            <a:avLst/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20299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50608" y="20299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360273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Parsing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913632"/>
            <a:ext cx="4206240" cy="2743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" y="3922776"/>
            <a:ext cx="4059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17720" y="3913632"/>
            <a:ext cx="1371600" cy="2743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23" name="Text 21"/>
          <p:cNvSpPr/>
          <p:nvPr/>
        </p:nvSpPr>
        <p:spPr>
          <a:xfrm>
            <a:off x="4690872" y="3922776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80760" y="3913632"/>
            <a:ext cx="2651760" cy="2743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25" name="Text 23"/>
          <p:cNvSpPr/>
          <p:nvPr/>
        </p:nvSpPr>
        <p:spPr>
          <a:xfrm>
            <a:off x="6153912" y="3922776"/>
            <a:ext cx="2505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4224528"/>
            <a:ext cx="8412480" cy="164592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27" name="Text 25"/>
          <p:cNvSpPr/>
          <p:nvPr/>
        </p:nvSpPr>
        <p:spPr>
          <a:xfrm>
            <a:off x="393192" y="4224528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"first N rows / records"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690872" y="422452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153912" y="4224528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0040" y="4398264"/>
            <a:ext cx="841248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4398264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"top N rows"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690872" y="4398264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153912" y="4398264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20040" y="4572000"/>
            <a:ext cx="8412480" cy="164592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" y="4572000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"rows N to M"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90872" y="45720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153912" y="4572000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M−N+1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320040" y="4745736"/>
            <a:ext cx="8412480" cy="1645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393192" y="4745736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"starting from row N"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690872" y="4745736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153912" y="4745736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919472"/>
            <a:ext cx="8412480" cy="164592"/>
          </a:xfrm>
          <a:prstGeom prst="rect">
            <a:avLst/>
          </a:prstGeom>
          <a:solidFill>
            <a:srgbClr val="F4F8FF"/>
          </a:solidFill>
          <a:ln/>
        </p:spPr>
      </p:sp>
      <p:sp>
        <p:nvSpPr>
          <p:cNvPr id="43" name="Text 41"/>
          <p:cNvSpPr/>
          <p:nvPr/>
        </p:nvSpPr>
        <p:spPr>
          <a:xfrm>
            <a:off x="393192" y="4919472"/>
            <a:ext cx="4151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(not specified)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690872" y="4919472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153912" y="4919472"/>
            <a:ext cx="2578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3295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Request Flow  —  Skills Working Together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658368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7E889A"/>
          </a:solidFill>
          <a:ln w="12700">
            <a:solidFill>
              <a:srgbClr val="7E88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83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73936" y="886968"/>
            <a:ext cx="219456" cy="292608"/>
          </a:xfrm>
          <a:prstGeom prst="right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658368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6583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*request-routing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(classify)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11296" y="886968"/>
            <a:ext cx="219456" cy="292608"/>
          </a:xfrm>
          <a:prstGeom prst="right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658368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0766D1"/>
          </a:solidFill>
          <a:ln w="12700">
            <a:solidFill>
              <a:srgbClr val="0766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6583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*score-strategy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(route)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48656" y="886968"/>
            <a:ext cx="219456" cy="292608"/>
          </a:xfrm>
          <a:prstGeom prst="right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658368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6583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*specialist skill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(verify+score)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86016" y="886968"/>
            <a:ext cx="219456" cy="292608"/>
          </a:xfrm>
          <a:prstGeom prst="rightArrow">
            <a:avLst/>
          </a:prstGeom>
          <a:solidFill>
            <a:srgbClr val="BAC0C9"/>
          </a:solidFill>
          <a:ln w="12700">
            <a:solidFill>
              <a:srgbClr val="BAC0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658368"/>
            <a:ext cx="1572768" cy="749808"/>
          </a:xfrm>
          <a:prstGeom prst="roundRect">
            <a:avLst>
              <a:gd name="adj" fmla="val 9756"/>
            </a:avLst>
          </a:prstGeom>
          <a:solidFill>
            <a:srgbClr val="032954"/>
          </a:solidFill>
          <a:ln w="12700">
            <a:solidFill>
              <a:srgbClr val="0329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658368"/>
            <a:ext cx="1572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Viya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(result)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16002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request-routing classifies the action: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2880" y="1947672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32954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20391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2608" y="2386584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*score-strategy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specialist skill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scoring tool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395728" y="1947672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0766D1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20391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/ Query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05456" y="2386584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*read-strategy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read-table or sas-query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08576" y="1947672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4398F9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0391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/ Verify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18304" y="2386584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*find-resources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find-* tool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21424" y="1947672"/>
            <a:ext cx="2103120" cy="1417320"/>
          </a:xfrm>
          <a:prstGeom prst="roundRect">
            <a:avLst>
              <a:gd name="adj" fmla="val 5161"/>
            </a:avLst>
          </a:prstGeom>
          <a:solidFill>
            <a:srgbClr val="C4DEFD"/>
          </a:solidFill>
          <a:ln w="6350">
            <a:solidFill>
              <a:srgbClr val="4398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20391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/ Describe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31152" y="2386584"/>
            <a:ext cx="1883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*list-resource / *detail-strategy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list-* or describe tool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32461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path detail  (score-strategy routing):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2880" y="3593592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0F5FF"/>
          </a:solidFill>
          <a:ln w="10160">
            <a:solidFill>
              <a:srgbClr val="4398F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59359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" y="36210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*score-mas-scr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3995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· SCR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4288536"/>
            <a:ext cx="1920240" cy="566928"/>
          </a:xfrm>
          <a:prstGeom prst="rect">
            <a:avLst/>
          </a:prstGeom>
          <a:solidFill>
            <a:srgbClr val="C4DEFD"/>
          </a:solidFill>
          <a:ln w="3810">
            <a:solidFill>
              <a:srgbClr val="4398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0896" y="430682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find-mas / mas-score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find-scr / scr-score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395728" y="3593592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0F5FF"/>
          </a:solidFill>
          <a:ln w="10160">
            <a:solidFill>
              <a:srgbClr val="4398F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395728" y="359359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6210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*score-job-jobdef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487168" y="3995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· JobDef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487168" y="4288536"/>
            <a:ext cx="1920240" cy="566928"/>
          </a:xfrm>
          <a:prstGeom prst="rect">
            <a:avLst/>
          </a:prstGeom>
          <a:solidFill>
            <a:srgbClr val="C4DEFD"/>
          </a:solidFill>
          <a:ln w="3810">
            <a:solidFill>
              <a:srgbClr val="4398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23744" y="430682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 / job-score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find-jobdef / jobdef-score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08576" y="3593592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0F5FF"/>
          </a:solidFill>
          <a:ln w="10160">
            <a:solidFill>
              <a:srgbClr val="4398F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608576" y="359359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81728" y="36210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*score-program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00016" y="3995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· Macro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0016" y="4288536"/>
            <a:ext cx="1920240" cy="566928"/>
          </a:xfrm>
          <a:prstGeom prst="rect">
            <a:avLst/>
          </a:prstGeom>
          <a:solidFill>
            <a:srgbClr val="C4DEFD"/>
          </a:solidFill>
          <a:ln w="3810">
            <a:solidFill>
              <a:srgbClr val="4398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36592" y="430682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program-score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score-macro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21424" y="3593592"/>
            <a:ext cx="2103120" cy="1353312"/>
          </a:xfrm>
          <a:prstGeom prst="roundRect">
            <a:avLst>
              <a:gd name="adj" fmla="val 5405"/>
            </a:avLst>
          </a:prstGeom>
          <a:solidFill>
            <a:srgbClr val="F0F5FF"/>
          </a:solidFill>
          <a:ln w="10160">
            <a:solidFill>
              <a:srgbClr val="4398F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821424" y="3593592"/>
            <a:ext cx="2103120" cy="347472"/>
          </a:xfrm>
          <a:prstGeom prst="roundRect">
            <a:avLst>
              <a:gd name="adj" fmla="val 21053"/>
            </a:avLst>
          </a:prstGeom>
          <a:solidFill>
            <a:srgbClr val="4398F9"/>
          </a:solidFill>
          <a:ln w="12700">
            <a:solidFill>
              <a:srgbClr val="4398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3621024"/>
            <a:ext cx="19568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*score-cas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912864" y="39959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32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912864" y="4288536"/>
            <a:ext cx="1920240" cy="566928"/>
          </a:xfrm>
          <a:prstGeom prst="rect">
            <a:avLst/>
          </a:prstGeom>
          <a:solidFill>
            <a:srgbClr val="C4DEFD"/>
          </a:solidFill>
          <a:ln w="3810">
            <a:solidFill>
              <a:srgbClr val="4398F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49440" y="4306824"/>
            <a:ext cx="18470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cas-program-score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329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(inline or table)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8851392" y="3566160"/>
            <a:ext cx="18288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4320" y="4846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76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pPr indent="0" marL="0">
              <a:buNone/>
            </a:pPr>
            <a:r>
              <a:rPr lang="en-US" sz="950" dirty="0">
                <a:solidFill>
                  <a:srgbClr val="7E88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skill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SAS Score MCP Server — Skills Overview</dc:title>
  <dc:subject>PptxGenJS Presentation</dc:subject>
  <dc:creator>PptxGenJS</dc:creator>
  <cp:lastModifiedBy>PptxGenJS</cp:lastModifiedBy>
  <cp:revision>1</cp:revision>
  <dcterms:created xsi:type="dcterms:W3CDTF">2026-06-16T11:12:02Z</dcterms:created>
  <dcterms:modified xsi:type="dcterms:W3CDTF">2026-06-16T11:12:02Z</dcterms:modified>
</cp:coreProperties>
</file>